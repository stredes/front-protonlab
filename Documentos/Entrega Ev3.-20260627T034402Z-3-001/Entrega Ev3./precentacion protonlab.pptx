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true" autoCompressPictures="0" embedTrueTypeFonts="true">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9144000" cy="5143500"/>
  <p:notesSz cx="5143500" cy="9144000"/>
  <p:embeddedFontLst>
    <p:embeddedFont>
      <p:font typeface="Cabin"/>
      <p:regular r:id="rId201314"/>
    </p:embeddedFont>
    <p:embeddedFont>
      <p:font typeface="Cabin Medium"/>
      <p:regular r:id="rId201315"/>
    </p:embeddedFont>
    <p:embeddedFont>
      <p:font typeface="Cabin SemiBold"/>
      <p:regular r:id="rId201316"/>
    </p:embeddedFont>
    <p:embeddedFont>
      <p:font typeface="Cabin Bold"/>
      <p:regular r:id="rId201317"/>
    </p:embeddedFont>
    <p:embeddedFont>
      <p:font typeface="Unbounded ExtraLight"/>
      <p:regular r:id="rId201318"/>
    </p:embeddedFont>
    <p:embeddedFont>
      <p:font typeface="Unbounded Light"/>
      <p:regular r:id="rId201319"/>
    </p:embeddedFont>
    <p:embeddedFont>
      <p:font typeface="Unbounded"/>
      <p:regular r:id="rId201320"/>
    </p:embeddedFont>
    <p:embeddedFont>
      <p:font typeface="Unbounded Bold"/>
      <p:regular r:id="rId201321"/>
    </p:embeddedFont>
    <p:embeddedFont>
      <p:font typeface="Unbounded ExtraBold"/>
      <p:regular r:id="rId201322"/>
    </p:embeddedFont>
    <p:embeddedFont>
      <p:font typeface="Unbounded Black"/>
      <p:regular r:id="rId201323"/>
    </p:embeddedFont>
    <p:embeddedFont>
      <p:font typeface="Unbounded Medium"/>
      <p:regular r:id="rId201324"/>
    </p:embeddedFont>
    <p:embeddedFont>
      <p:font typeface="Unbounded SemiBold"/>
      <p:regular r:id="rId201325"/>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 Id="rId201314" Target="fonts/201314.fntdata" Type="http://schemas.openxmlformats.org/officeDocument/2006/relationships/font"/><Relationship Id="rId201315" Target="fonts/201315.fntdata" Type="http://schemas.openxmlformats.org/officeDocument/2006/relationships/font"/><Relationship Id="rId201316" Target="fonts/201316.fntdata" Type="http://schemas.openxmlformats.org/officeDocument/2006/relationships/font"/><Relationship Id="rId201317" Target="fonts/201317.fntdata" Type="http://schemas.openxmlformats.org/officeDocument/2006/relationships/font"/><Relationship Id="rId201318" Target="fonts/201318.fntdata" Type="http://schemas.openxmlformats.org/officeDocument/2006/relationships/font"/><Relationship Id="rId201319" Target="fonts/201319.fntdata" Type="http://schemas.openxmlformats.org/officeDocument/2006/relationships/font"/><Relationship Id="rId201320" Target="fonts/201320.fntdata" Type="http://schemas.openxmlformats.org/officeDocument/2006/relationships/font"/><Relationship Id="rId201321" Target="fonts/201321.fntdata" Type="http://schemas.openxmlformats.org/officeDocument/2006/relationships/font"/><Relationship Id="rId201322" Target="fonts/201322.fntdata" Type="http://schemas.openxmlformats.org/officeDocument/2006/relationships/font"/><Relationship Id="rId201323" Target="fonts/201323.fntdata" Type="http://schemas.openxmlformats.org/officeDocument/2006/relationships/font"/><Relationship Id="rId201324" Target="fonts/201324.fntdata" Type="http://schemas.openxmlformats.org/officeDocument/2006/relationships/font"/><Relationship Id="rId201325" Target="fonts/201325.fntdata" Type="http://schemas.openxmlformats.org/officeDocument/2006/relationships/font"/><Relationship Id="rId201326" Target="fonts/201326.fntdata" Type="http://schemas.openxmlformats.org/officeDocument/2006/relationships/font"/><Relationship Id="rId201327" Target="fonts/201327.fntdata" Type="http://schemas.openxmlformats.org/officeDocument/2006/relationships/font"/><Relationship Id="rId201328" Target="fonts/201328.fntdata" Type="http://schemas.openxmlformats.org/officeDocument/2006/relationships/font"/><Relationship Id="rId201329" Target="fonts/201329.fntdata" Type="http://schemas.openxmlformats.org/officeDocument/2006/relationships/font"/></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02-1.png"/><Relationship Id="rId2" Type="http://schemas.openxmlformats.org/officeDocument/2006/relationships/image" Target="../media/image-1002-2.png"/><Relationship Id="rId4"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master 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3" name="Shape 0"/>
          <p:cNvSpPr/>
          <p:nvPr/>
        </p:nvSpPr>
        <p:spPr>
          <a:xfrm>
            <a:off x="0" y="0"/>
            <a:ext cx="9144000" cy="5143500"/>
          </a:xfrm>
          <a:prstGeom prst="rect">
            <a:avLst/>
          </a:prstGeom>
          <a:solidFill>
            <a:srgbClr val="112836"/>
          </a:solidFill>
          <a:ln/>
        </p:spPr>
      </p:sp>
      <p:pic>
        <p:nvPicPr>
          <p:cNvPr id="4" name="Image 1" descr="preencoded.png">
            <a:hlinkClick r:id="rId3" tooltip=""/>
          </p:cNvPr>
          <p:cNvPicPr>
            <a:picLocks noChangeAspect="1"/>
          </p:cNvPicPr>
          <p:nvPr/>
        </p:nvPicPr>
        <p:blipFill>
          <a:blip r:embed="rId2"/>
          <a:stretch>
            <a:fillRect/>
          </a:stretch>
        </p:blipFill>
        <p:spPr>
          <a:xfrm>
            <a:off x="8029180" y="4844491"/>
            <a:ext cx="1071843" cy="256032"/>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slideLayout" Target="../slideLayouts/slideLayout2.xml"/><Relationship Id="rId7"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svg"/><Relationship Id="rId3" Type="http://schemas.openxmlformats.org/officeDocument/2006/relationships/image" Target="../media/image-3-3.png"/><Relationship Id="rId4" Type="http://schemas.openxmlformats.org/officeDocument/2006/relationships/image" Target="../media/image-3-4.svg"/><Relationship Id="rId5" Type="http://schemas.openxmlformats.org/officeDocument/2006/relationships/image" Target="../media/image-3-1.png"/><Relationship Id="rId6" Type="http://schemas.openxmlformats.org/officeDocument/2006/relationships/image" Target="../media/image-3-2.svg"/><Relationship Id="rId7" Type="http://schemas.openxmlformats.org/officeDocument/2006/relationships/image" Target="../media/image-3-7.png"/><Relationship Id="rId8" Type="http://schemas.openxmlformats.org/officeDocument/2006/relationships/image" Target="../media/image-3-8.svg"/><Relationship Id="rId9" Type="http://schemas.openxmlformats.org/officeDocument/2006/relationships/image" Target="../media/image-3-1.png"/><Relationship Id="rId10" Type="http://schemas.openxmlformats.org/officeDocument/2006/relationships/image" Target="../media/image-3-2.svg"/><Relationship Id="rId11" Type="http://schemas.openxmlformats.org/officeDocument/2006/relationships/image" Target="../media/image-3-11.png"/><Relationship Id="rId12" Type="http://schemas.openxmlformats.org/officeDocument/2006/relationships/image" Target="../media/image-3-12.svg"/><Relationship Id="rId13" Type="http://schemas.openxmlformats.org/officeDocument/2006/relationships/image" Target="../media/image-3-13.png"/><Relationship Id="rId14" Type="http://schemas.openxmlformats.org/officeDocument/2006/relationships/image" Target="../media/image-3-14.svg"/><Relationship Id="rId15" Type="http://schemas.openxmlformats.org/officeDocument/2006/relationships/image" Target="../media/image-3-15.png"/><Relationship Id="rId16" Type="http://schemas.openxmlformats.org/officeDocument/2006/relationships/image" Target="../media/image-3-16.svg"/><Relationship Id="rId17" Type="http://schemas.openxmlformats.org/officeDocument/2006/relationships/image" Target="../media/image-3-13.png"/><Relationship Id="rId18" Type="http://schemas.openxmlformats.org/officeDocument/2006/relationships/image" Target="../media/image-3-14.svg"/><Relationship Id="rId19" Type="http://schemas.openxmlformats.org/officeDocument/2006/relationships/image" Target="../media/image-3-19.png"/><Relationship Id="rId20" Type="http://schemas.openxmlformats.org/officeDocument/2006/relationships/image" Target="../media/image-3-20.svg"/><Relationship Id="rId21" Type="http://schemas.openxmlformats.org/officeDocument/2006/relationships/slideLayout" Target="../slideLayouts/slideLayout2.xml"/><Relationship Id="rId2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svg"/><Relationship Id="rId3" Type="http://schemas.openxmlformats.org/officeDocument/2006/relationships/image" Target="../media/image-5-3.png"/><Relationship Id="rId4" Type="http://schemas.openxmlformats.org/officeDocument/2006/relationships/image" Target="../media/image-5-4.svg"/><Relationship Id="rId5" Type="http://schemas.openxmlformats.org/officeDocument/2006/relationships/image" Target="../media/image-5-5.png"/><Relationship Id="rId6" Type="http://schemas.openxmlformats.org/officeDocument/2006/relationships/image" Target="../media/image-5-6.svg"/><Relationship Id="rId7" Type="http://schemas.openxmlformats.org/officeDocument/2006/relationships/image" Target="../media/image-5-7.png"/><Relationship Id="rId8" Type="http://schemas.openxmlformats.org/officeDocument/2006/relationships/image" Target="../media/image-5-8.svg"/><Relationship Id="rId9" Type="http://schemas.openxmlformats.org/officeDocument/2006/relationships/slideLayout" Target="../slideLayouts/slideLayout2.xml"/><Relationship Id="rId10"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svg"/><Relationship Id="rId4" Type="http://schemas.openxmlformats.org/officeDocument/2006/relationships/image" Target="../media/image-7-2.png"/><Relationship Id="rId5" Type="http://schemas.openxmlformats.org/officeDocument/2006/relationships/image" Target="../media/image-7-3.svg"/><Relationship Id="rId6" Type="http://schemas.openxmlformats.org/officeDocument/2006/relationships/image" Target="../media/image-7-2.png"/><Relationship Id="rId7" Type="http://schemas.openxmlformats.org/officeDocument/2006/relationships/image" Target="../media/image-7-3.svg"/><Relationship Id="rId8" Type="http://schemas.openxmlformats.org/officeDocument/2006/relationships/image" Target="../media/image-7-2.png"/><Relationship Id="rId9" Type="http://schemas.openxmlformats.org/officeDocument/2006/relationships/image" Target="../media/image-7-3.svg"/><Relationship Id="rId10" Type="http://schemas.openxmlformats.org/officeDocument/2006/relationships/slideLayout" Target="../slideLayouts/slideLayout2.xml"/><Relationship Id="rId11"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3" Type="http://schemas.openxmlformats.org/officeDocument/2006/relationships/hyperlink" Target="https://demo.nuestro-sistema.es" TargetMode="External"/><Relationship Id="rId1" Type="http://schemas.openxmlformats.org/officeDocument/2006/relationships/image" Target="../media/image-11-1.png"/><Relationship Id="rId2" Type="http://schemas.openxmlformats.org/officeDocument/2006/relationships/image" Target="../media/image-11-2.svg"/><Relationship Id="rId4" Type="http://schemas.openxmlformats.org/officeDocument/2006/relationships/image" Target="../media/image-11-3.png"/><Relationship Id="rId5" Type="http://schemas.openxmlformats.org/officeDocument/2006/relationships/image" Target="../media/image-11-4.svg"/><Relationship Id="rId6" Type="http://schemas.openxmlformats.org/officeDocument/2006/relationships/image" Target="../media/image-11-5.png"/><Relationship Id="rId7" Type="http://schemas.openxmlformats.org/officeDocument/2006/relationships/image" Target="../media/image-11-6.svg"/><Relationship Id="rId8" Type="http://schemas.openxmlformats.org/officeDocument/2006/relationships/slideLayout" Target="../slideLayouts/slideLayout2.xml"/><Relationship Id="rId9"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slideLayout" Target="../slideLayouts/slideLayout2.xml"/><Relationship Id="rId6"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23577" y="453479"/>
            <a:ext cx="4536728" cy="4536728"/>
          </a:xfrm>
          <a:prstGeom prst="rect">
            <a:avLst/>
          </a:prstGeom>
        </p:spPr>
      </p:pic>
      <p:sp>
        <p:nvSpPr>
          <p:cNvPr id="3" name="Shape 0"/>
          <p:cNvSpPr/>
          <p:nvPr/>
        </p:nvSpPr>
        <p:spPr>
          <a:xfrm>
            <a:off x="5247531" y="453479"/>
            <a:ext cx="3377580" cy="619869"/>
          </a:xfrm>
          <a:prstGeom prst="roundRect">
            <a:avLst>
              <a:gd name="adj" fmla="val 1810"/>
            </a:avLst>
          </a:prstGeom>
          <a:solidFill>
            <a:srgbClr val="08786D"/>
          </a:solidFill>
          <a:ln/>
        </p:spPr>
      </p:sp>
      <p:pic>
        <p:nvPicPr>
          <p:cNvPr id="4" name="Image 1" descr="preencoded.png">    </p:cNvPr>
          <p:cNvPicPr>
            <a:picLocks noChangeAspect="1"/>
          </p:cNvPicPr>
          <p:nvPr/>
        </p:nvPicPr>
        <p:blipFill>
          <a:blip r:embed="rId2"/>
          <a:stretch>
            <a:fillRect/>
          </a:stretch>
        </p:blipFill>
        <p:spPr>
          <a:xfrm>
            <a:off x="5322317" y="513457"/>
            <a:ext cx="116830" cy="93464"/>
          </a:xfrm>
          <a:prstGeom prst="rect">
            <a:avLst/>
          </a:prstGeom>
        </p:spPr>
      </p:pic>
      <p:sp>
        <p:nvSpPr>
          <p:cNvPr id="5" name="Text 1"/>
          <p:cNvSpPr/>
          <p:nvPr/>
        </p:nvSpPr>
        <p:spPr>
          <a:xfrm>
            <a:off x="5513933" y="509513"/>
            <a:ext cx="1337221" cy="109984"/>
          </a:xfrm>
          <a:prstGeom prst="rect">
            <a:avLst/>
          </a:prstGeom>
          <a:noFill/>
          <a:ln/>
        </p:spPr>
        <p:txBody>
          <a:bodyPr wrap="none" lIns="0" tIns="0" rIns="0" bIns="0" rtlCol="0" anchor="t"/>
          <a:lstStyle/>
          <a:p>
            <a:pPr algn="l" indent="0" marL="0">
              <a:lnSpc>
                <a:spcPct val="104000"/>
              </a:lnSpc>
              <a:buNone/>
            </a:pPr>
            <a:r>
              <a:rPr lang="en-US" sz="650" dirty="0">
                <a:solidFill>
                  <a:srgbClr val="FFFFFF"/>
                </a:solidFill>
                <a:latin typeface="Unbounded" pitchFamily="34" charset="0"/>
                <a:ea typeface="Unbounded" pitchFamily="34" charset="-122"/>
                <a:cs typeface="Unbounded" pitchFamily="34" charset="-120"/>
              </a:rPr>
              <a:t>Fecha</a:t>
            </a:r>
            <a:endParaRPr lang="en-US" sz="650" dirty="0"/>
          </a:p>
        </p:txBody>
      </p:sp>
      <p:sp>
        <p:nvSpPr>
          <p:cNvPr id="6" name="Text 2"/>
          <p:cNvSpPr/>
          <p:nvPr/>
        </p:nvSpPr>
        <p:spPr>
          <a:xfrm>
            <a:off x="5513933" y="656853"/>
            <a:ext cx="3493591" cy="89743"/>
          </a:xfrm>
          <a:prstGeom prst="rect">
            <a:avLst/>
          </a:prstGeom>
          <a:noFill/>
          <a:ln/>
        </p:spPr>
        <p:txBody>
          <a:bodyPr wrap="none" lIns="0" tIns="0" rIns="0" bIns="0" rtlCol="0" anchor="t"/>
          <a:lstStyle/>
          <a:p>
            <a:pPr algn="l" indent="0" marL="0">
              <a:lnSpc>
                <a:spcPct val="100000"/>
              </a:lnSpc>
              <a:buNone/>
            </a:pPr>
            <a:r>
              <a:rPr lang="en-US" sz="550" dirty="0">
                <a:solidFill>
                  <a:srgbClr val="FFFFFF"/>
                </a:solidFill>
                <a:latin typeface="Cabin" pitchFamily="34" charset="0"/>
                <a:ea typeface="Cabin" pitchFamily="34" charset="-122"/>
                <a:cs typeface="Cabin" pitchFamily="34" charset="-120"/>
              </a:rPr>
              <a:t>27 de junio de 2026</a:t>
            </a:r>
            <a:endParaRPr lang="en-US" sz="550" dirty="0"/>
          </a:p>
        </p:txBody>
      </p:sp>
      <p:sp>
        <p:nvSpPr>
          <p:cNvPr id="7" name="Text 3"/>
          <p:cNvSpPr/>
          <p:nvPr/>
        </p:nvSpPr>
        <p:spPr>
          <a:xfrm>
            <a:off x="5513933" y="783952"/>
            <a:ext cx="1337221" cy="109984"/>
          </a:xfrm>
          <a:prstGeom prst="rect">
            <a:avLst/>
          </a:prstGeom>
          <a:noFill/>
          <a:ln/>
        </p:spPr>
        <p:txBody>
          <a:bodyPr wrap="none" lIns="0" tIns="0" rIns="0" bIns="0" rtlCol="0" anchor="t"/>
          <a:lstStyle/>
          <a:p>
            <a:pPr algn="l" indent="0" marL="0">
              <a:lnSpc>
                <a:spcPct val="104000"/>
              </a:lnSpc>
              <a:buNone/>
            </a:pPr>
            <a:r>
              <a:rPr lang="en-US" sz="650" dirty="0">
                <a:solidFill>
                  <a:srgbClr val="FFFFFF"/>
                </a:solidFill>
                <a:latin typeface="Unbounded" pitchFamily="34" charset="0"/>
                <a:ea typeface="Unbounded" pitchFamily="34" charset="-122"/>
                <a:cs typeface="Unbounded" pitchFamily="34" charset="-120"/>
              </a:rPr>
              <a:t>Sede</a:t>
            </a:r>
            <a:endParaRPr lang="en-US" sz="650" dirty="0"/>
          </a:p>
        </p:txBody>
      </p:sp>
      <p:sp>
        <p:nvSpPr>
          <p:cNvPr id="8" name="Text 4"/>
          <p:cNvSpPr/>
          <p:nvPr/>
        </p:nvSpPr>
        <p:spPr>
          <a:xfrm>
            <a:off x="5513933" y="931292"/>
            <a:ext cx="3493591" cy="89743"/>
          </a:xfrm>
          <a:prstGeom prst="rect">
            <a:avLst/>
          </a:prstGeom>
          <a:noFill/>
          <a:ln/>
        </p:spPr>
        <p:txBody>
          <a:bodyPr wrap="none" lIns="0" tIns="0" rIns="0" bIns="0" rtlCol="0" anchor="t"/>
          <a:lstStyle/>
          <a:p>
            <a:pPr algn="l" indent="0" marL="0">
              <a:lnSpc>
                <a:spcPct val="100000"/>
              </a:lnSpc>
              <a:buNone/>
            </a:pPr>
            <a:r>
              <a:rPr lang="en-US" sz="550" dirty="0">
                <a:solidFill>
                  <a:srgbClr val="FFFFFF"/>
                </a:solidFill>
                <a:latin typeface="Cabin" pitchFamily="34" charset="0"/>
                <a:ea typeface="Cabin" pitchFamily="34" charset="-122"/>
                <a:cs typeface="Cabin" pitchFamily="34" charset="-120"/>
              </a:rPr>
              <a:t>DUOC UC Puente Alto</a:t>
            </a:r>
            <a:endParaRPr lang="en-US" sz="550" dirty="0"/>
          </a:p>
        </p:txBody>
      </p:sp>
      <p:sp>
        <p:nvSpPr>
          <p:cNvPr id="9" name="Text 5"/>
          <p:cNvSpPr/>
          <p:nvPr/>
        </p:nvSpPr>
        <p:spPr>
          <a:xfrm>
            <a:off x="3463305" y="5088285"/>
            <a:ext cx="2217316" cy="219968"/>
          </a:xfrm>
          <a:prstGeom prst="rect">
            <a:avLst/>
          </a:prstGeom>
          <a:noFill/>
          <a:ln/>
        </p:spPr>
        <p:txBody>
          <a:bodyPr wrap="none" lIns="0" tIns="0" rIns="0" bIns="0" rtlCol="0" anchor="t"/>
          <a:lstStyle/>
          <a:p>
            <a:pPr algn="ctr" indent="0" marL="0">
              <a:lnSpc>
                <a:spcPct val="104000"/>
              </a:lnSpc>
              <a:buNone/>
            </a:pPr>
            <a:r>
              <a:rPr lang="en-US" sz="1350" dirty="0">
                <a:solidFill>
                  <a:srgbClr val="FFFFFF"/>
                </a:solidFill>
                <a:latin typeface="Unbounded" pitchFamily="34" charset="0"/>
                <a:ea typeface="Unbounded" pitchFamily="34" charset="-122"/>
                <a:cs typeface="Unbounded" pitchFamily="34" charset="-120"/>
              </a:rPr>
              <a:t>ProtonLab</a:t>
            </a:r>
            <a:endParaRPr lang="en-US" sz="1350" dirty="0"/>
          </a:p>
        </p:txBody>
      </p:sp>
      <p:sp>
        <p:nvSpPr>
          <p:cNvPr id="10" name="Text 6"/>
          <p:cNvSpPr/>
          <p:nvPr/>
        </p:nvSpPr>
        <p:spPr>
          <a:xfrm>
            <a:off x="294977" y="5364287"/>
            <a:ext cx="8554045" cy="89743"/>
          </a:xfrm>
          <a:prstGeom prst="rect">
            <a:avLst/>
          </a:prstGeom>
          <a:noFill/>
          <a:ln/>
        </p:spPr>
        <p:txBody>
          <a:bodyPr wrap="none" lIns="0" tIns="0" rIns="0" bIns="0" rtlCol="0" anchor="t"/>
          <a:lstStyle/>
          <a:p>
            <a:pPr algn="ctr" indent="0" marL="0">
              <a:lnSpc>
                <a:spcPct val="100000"/>
              </a:lnSpc>
              <a:buNone/>
            </a:pPr>
            <a:r>
              <a:rPr lang="en-US" sz="550" dirty="0">
                <a:solidFill>
                  <a:srgbClr val="CAD6DE"/>
                </a:solidFill>
                <a:latin typeface="Cabin" pitchFamily="34" charset="0"/>
                <a:ea typeface="Cabin" pitchFamily="34" charset="-122"/>
                <a:cs typeface="Cabin" pitchFamily="34" charset="-120"/>
              </a:rPr>
              <a:t>Plataforma B2B con ERP Interno Integrado</a:t>
            </a:r>
            <a:endParaRPr lang="en-US" sz="550" dirty="0"/>
          </a:p>
        </p:txBody>
      </p:sp>
      <p:pic>
        <p:nvPicPr>
          <p:cNvPr id="11" name="Image 2" descr="preencoded.png">    </p:cNvPr>
          <p:cNvPicPr>
            <a:picLocks noChangeAspect="1"/>
          </p:cNvPicPr>
          <p:nvPr/>
        </p:nvPicPr>
        <p:blipFill>
          <a:blip r:embed="rId3"/>
          <a:stretch>
            <a:fillRect/>
          </a:stretch>
        </p:blipFill>
        <p:spPr>
          <a:xfrm>
            <a:off x="523577" y="5496074"/>
            <a:ext cx="1547292" cy="1547292"/>
          </a:xfrm>
          <a:prstGeom prst="rect">
            <a:avLst/>
          </a:prstGeom>
        </p:spPr>
      </p:pic>
      <p:sp>
        <p:nvSpPr>
          <p:cNvPr id="12" name="Text 7"/>
          <p:cNvSpPr/>
          <p:nvPr/>
        </p:nvSpPr>
        <p:spPr>
          <a:xfrm>
            <a:off x="523577" y="7090097"/>
            <a:ext cx="1192857" cy="109984"/>
          </a:xfrm>
          <a:prstGeom prst="rect">
            <a:avLst/>
          </a:prstGeom>
          <a:noFill/>
          <a:ln/>
        </p:spPr>
        <p:txBody>
          <a:bodyPr wrap="none" lIns="0" tIns="0" rIns="0" bIns="0" rtlCol="0" anchor="t"/>
          <a:lstStyle/>
          <a:p>
            <a:pPr algn="l" indent="0" marL="0">
              <a:lnSpc>
                <a:spcPct val="104000"/>
              </a:lnSpc>
              <a:buNone/>
            </a:pPr>
            <a:r>
              <a:rPr lang="en-US" sz="650" dirty="0">
                <a:solidFill>
                  <a:srgbClr val="CAD6DE"/>
                </a:solidFill>
                <a:latin typeface="Unbounded" pitchFamily="34" charset="0"/>
                <a:ea typeface="Unbounded" pitchFamily="34" charset="-122"/>
                <a:cs typeface="Unbounded" pitchFamily="34" charset="-120"/>
              </a:rPr>
              <a:t>Gian Lucas San Martín</a:t>
            </a:r>
            <a:endParaRPr lang="en-US" sz="650" dirty="0"/>
          </a:p>
        </p:txBody>
      </p:sp>
      <p:sp>
        <p:nvSpPr>
          <p:cNvPr id="13" name="Text 8"/>
          <p:cNvSpPr/>
          <p:nvPr/>
        </p:nvSpPr>
        <p:spPr>
          <a:xfrm>
            <a:off x="523577" y="7222480"/>
            <a:ext cx="2667744" cy="314027"/>
          </a:xfrm>
          <a:prstGeom prst="rect">
            <a:avLst/>
          </a:prstGeom>
          <a:noFill/>
          <a:ln/>
        </p:spPr>
        <p:txBody>
          <a:bodyPr wrap="square" lIns="0" tIns="0" rIns="0" bIns="0" rtlCol="0" anchor="t"/>
          <a:lstStyle/>
          <a:p>
            <a:pPr algn="l" indent="0" marL="0">
              <a:lnSpc>
                <a:spcPct val="100000"/>
              </a:lnSpc>
              <a:spcAft>
                <a:spcPts val="150"/>
              </a:spcAft>
              <a:buNone/>
            </a:pPr>
            <a:r>
              <a:rPr lang="en-US" sz="550" dirty="0">
                <a:solidFill>
                  <a:srgbClr val="CAD6DE"/>
                </a:solidFill>
                <a:latin typeface="Cabin" pitchFamily="34" charset="0"/>
                <a:ea typeface="Cabin" pitchFamily="34" charset="-122"/>
                <a:cs typeface="Cabin" pitchFamily="34" charset="-120"/>
              </a:rPr>
              <a:t>lider tecnico</a:t>
            </a:r>
            <a:endParaRPr lang="en-US" sz="550" dirty="0"/>
          </a:p>
          <a:p>
            <a:pPr algn="l" indent="0" marL="0">
              <a:lnSpc>
                <a:spcPct val="100000"/>
              </a:lnSpc>
              <a:spcAft>
                <a:spcPts val="150"/>
              </a:spcAft>
              <a:buNone/>
            </a:pPr>
            <a:r>
              <a:rPr lang="en-US" sz="550" dirty="0">
                <a:solidFill>
                  <a:srgbClr val="CAD6DE"/>
                </a:solidFill>
                <a:latin typeface="Cabin" pitchFamily="34" charset="0"/>
                <a:ea typeface="Cabin" pitchFamily="34" charset="-122"/>
                <a:cs typeface="Cabin" pitchFamily="34" charset="-120"/>
              </a:rPr>
              <a:t>especialista backend</a:t>
            </a:r>
            <a:endParaRPr lang="en-US" sz="550" dirty="0"/>
          </a:p>
          <a:p>
            <a:pPr algn="l" indent="0" marL="0">
              <a:lnSpc>
                <a:spcPct val="100000"/>
              </a:lnSpc>
              <a:buNone/>
            </a:pPr>
            <a:r>
              <a:rPr lang="en-US" sz="550" dirty="0">
                <a:solidFill>
                  <a:srgbClr val="CAD6DE"/>
                </a:solidFill>
                <a:latin typeface="Cabin" pitchFamily="34" charset="0"/>
                <a:ea typeface="Cabin" pitchFamily="34" charset="-122"/>
                <a:cs typeface="Cabin" pitchFamily="34" charset="-120"/>
              </a:rPr>
              <a:t>deployer</a:t>
            </a:r>
            <a:endParaRPr lang="en-US" sz="550" dirty="0"/>
          </a:p>
        </p:txBody>
      </p:sp>
      <p:pic>
        <p:nvPicPr>
          <p:cNvPr id="14" name="Image 3" descr="preencoded.png">    </p:cNvPr>
          <p:cNvPicPr>
            <a:picLocks noChangeAspect="1"/>
          </p:cNvPicPr>
          <p:nvPr/>
        </p:nvPicPr>
        <p:blipFill>
          <a:blip r:embed="rId4"/>
          <a:stretch>
            <a:fillRect/>
          </a:stretch>
        </p:blipFill>
        <p:spPr>
          <a:xfrm>
            <a:off x="3238054" y="5496074"/>
            <a:ext cx="1547292" cy="1547292"/>
          </a:xfrm>
          <a:prstGeom prst="rect">
            <a:avLst/>
          </a:prstGeom>
        </p:spPr>
      </p:pic>
      <p:sp>
        <p:nvSpPr>
          <p:cNvPr id="15" name="Text 9"/>
          <p:cNvSpPr/>
          <p:nvPr/>
        </p:nvSpPr>
        <p:spPr>
          <a:xfrm>
            <a:off x="3238054" y="7090097"/>
            <a:ext cx="880021" cy="109984"/>
          </a:xfrm>
          <a:prstGeom prst="rect">
            <a:avLst/>
          </a:prstGeom>
          <a:noFill/>
          <a:ln/>
        </p:spPr>
        <p:txBody>
          <a:bodyPr wrap="none" lIns="0" tIns="0" rIns="0" bIns="0" rtlCol="0" anchor="t"/>
          <a:lstStyle/>
          <a:p>
            <a:pPr algn="l" indent="0" marL="0">
              <a:lnSpc>
                <a:spcPct val="104000"/>
              </a:lnSpc>
              <a:buNone/>
            </a:pPr>
            <a:r>
              <a:rPr lang="en-US" sz="650" dirty="0">
                <a:solidFill>
                  <a:srgbClr val="CAD6DE"/>
                </a:solidFill>
                <a:latin typeface="Unbounded" pitchFamily="34" charset="0"/>
                <a:ea typeface="Unbounded" pitchFamily="34" charset="-122"/>
                <a:cs typeface="Unbounded" pitchFamily="34" charset="-120"/>
              </a:rPr>
              <a:t>Nicolás Lagos</a:t>
            </a:r>
            <a:endParaRPr lang="en-US" sz="650" dirty="0"/>
          </a:p>
        </p:txBody>
      </p:sp>
      <p:sp>
        <p:nvSpPr>
          <p:cNvPr id="16" name="Text 10"/>
          <p:cNvSpPr/>
          <p:nvPr/>
        </p:nvSpPr>
        <p:spPr>
          <a:xfrm>
            <a:off x="3238054" y="7222480"/>
            <a:ext cx="2667819" cy="201885"/>
          </a:xfrm>
          <a:prstGeom prst="rect">
            <a:avLst/>
          </a:prstGeom>
          <a:noFill/>
          <a:ln/>
        </p:spPr>
        <p:txBody>
          <a:bodyPr wrap="square" lIns="0" tIns="0" rIns="0" bIns="0" rtlCol="0" anchor="t"/>
          <a:lstStyle/>
          <a:p>
            <a:pPr algn="l" indent="0" marL="0">
              <a:lnSpc>
                <a:spcPct val="100000"/>
              </a:lnSpc>
              <a:spcAft>
                <a:spcPts val="150"/>
              </a:spcAft>
              <a:buNone/>
            </a:pPr>
            <a:r>
              <a:rPr lang="en-US" sz="550" dirty="0">
                <a:solidFill>
                  <a:srgbClr val="CAD6DE"/>
                </a:solidFill>
                <a:latin typeface="Cabin" pitchFamily="34" charset="0"/>
                <a:ea typeface="Cabin" pitchFamily="34" charset="-122"/>
                <a:cs typeface="Cabin" pitchFamily="34" charset="-120"/>
              </a:rPr>
              <a:t>especialista front </a:t>
            </a:r>
            <a:endParaRPr lang="en-US" sz="550" dirty="0"/>
          </a:p>
          <a:p>
            <a:pPr algn="l" indent="0" marL="0">
              <a:lnSpc>
                <a:spcPct val="100000"/>
              </a:lnSpc>
              <a:buNone/>
            </a:pPr>
            <a:r>
              <a:rPr lang="en-US" sz="550" dirty="0">
                <a:solidFill>
                  <a:srgbClr val="CAD6DE"/>
                </a:solidFill>
                <a:latin typeface="Cabin" pitchFamily="34" charset="0"/>
                <a:ea typeface="Cabin" pitchFamily="34" charset="-122"/>
                <a:cs typeface="Cabin" pitchFamily="34" charset="-120"/>
              </a:rPr>
              <a:t>db administrator</a:t>
            </a:r>
            <a:endParaRPr lang="en-US" sz="550" dirty="0"/>
          </a:p>
        </p:txBody>
      </p:sp>
      <p:pic>
        <p:nvPicPr>
          <p:cNvPr id="17" name="Image 4" descr="preencoded.png">    </p:cNvPr>
          <p:cNvPicPr>
            <a:picLocks noChangeAspect="1"/>
          </p:cNvPicPr>
          <p:nvPr/>
        </p:nvPicPr>
        <p:blipFill>
          <a:blip r:embed="rId5"/>
          <a:stretch>
            <a:fillRect/>
          </a:stretch>
        </p:blipFill>
        <p:spPr>
          <a:xfrm>
            <a:off x="5952604" y="5496074"/>
            <a:ext cx="1547292" cy="1547292"/>
          </a:xfrm>
          <a:prstGeom prst="rect">
            <a:avLst/>
          </a:prstGeom>
        </p:spPr>
      </p:pic>
      <p:sp>
        <p:nvSpPr>
          <p:cNvPr id="18" name="Text 11"/>
          <p:cNvSpPr/>
          <p:nvPr/>
        </p:nvSpPr>
        <p:spPr>
          <a:xfrm>
            <a:off x="5952604" y="7090097"/>
            <a:ext cx="880021" cy="109984"/>
          </a:xfrm>
          <a:prstGeom prst="rect">
            <a:avLst/>
          </a:prstGeom>
          <a:noFill/>
          <a:ln/>
        </p:spPr>
        <p:txBody>
          <a:bodyPr wrap="none" lIns="0" tIns="0" rIns="0" bIns="0" rtlCol="0" anchor="t"/>
          <a:lstStyle/>
          <a:p>
            <a:pPr algn="l" indent="0" marL="0">
              <a:lnSpc>
                <a:spcPct val="104000"/>
              </a:lnSpc>
              <a:buNone/>
            </a:pPr>
            <a:r>
              <a:rPr lang="en-US" sz="650" dirty="0">
                <a:solidFill>
                  <a:srgbClr val="CAD6DE"/>
                </a:solidFill>
                <a:latin typeface="Unbounded" pitchFamily="34" charset="0"/>
                <a:ea typeface="Unbounded" pitchFamily="34" charset="-122"/>
                <a:cs typeface="Unbounded" pitchFamily="34" charset="-120"/>
              </a:rPr>
              <a:t>Pedro Arriaza</a:t>
            </a:r>
            <a:endParaRPr lang="en-US" sz="650" dirty="0"/>
          </a:p>
        </p:txBody>
      </p:sp>
      <p:sp>
        <p:nvSpPr>
          <p:cNvPr id="19" name="Text 12"/>
          <p:cNvSpPr/>
          <p:nvPr/>
        </p:nvSpPr>
        <p:spPr>
          <a:xfrm>
            <a:off x="5952604" y="7222480"/>
            <a:ext cx="2667819" cy="201885"/>
          </a:xfrm>
          <a:prstGeom prst="rect">
            <a:avLst/>
          </a:prstGeom>
          <a:noFill/>
          <a:ln/>
        </p:spPr>
        <p:txBody>
          <a:bodyPr wrap="square" lIns="0" tIns="0" rIns="0" bIns="0" rtlCol="0" anchor="t"/>
          <a:lstStyle/>
          <a:p>
            <a:pPr algn="l" indent="0" marL="0">
              <a:lnSpc>
                <a:spcPct val="100000"/>
              </a:lnSpc>
              <a:spcAft>
                <a:spcPts val="150"/>
              </a:spcAft>
              <a:buNone/>
            </a:pPr>
            <a:r>
              <a:rPr lang="en-US" sz="550" dirty="0">
                <a:solidFill>
                  <a:srgbClr val="CAD6DE"/>
                </a:solidFill>
                <a:latin typeface="Cabin" pitchFamily="34" charset="0"/>
                <a:ea typeface="Cabin" pitchFamily="34" charset="-122"/>
                <a:cs typeface="Cabin" pitchFamily="34" charset="-120"/>
              </a:rPr>
              <a:t>Qa testing </a:t>
            </a:r>
            <a:endParaRPr lang="en-US" sz="550" dirty="0"/>
          </a:p>
          <a:p>
            <a:pPr algn="l" indent="0" marL="0">
              <a:lnSpc>
                <a:spcPct val="100000"/>
              </a:lnSpc>
              <a:buNone/>
            </a:pPr>
            <a:r>
              <a:rPr lang="en-US" sz="550" dirty="0">
                <a:solidFill>
                  <a:srgbClr val="CAD6DE"/>
                </a:solidFill>
                <a:latin typeface="Cabin" pitchFamily="34" charset="0"/>
                <a:ea typeface="Cabin" pitchFamily="34" charset="-122"/>
                <a:cs typeface="Cabin" pitchFamily="34" charset="-120"/>
              </a:rPr>
              <a:t>asistente Frontend/db </a:t>
            </a:r>
            <a:endParaRPr lang="en-US" sz="550" dirty="0"/>
          </a:p>
        </p:txBody>
      </p:sp>
      <p:sp>
        <p:nvSpPr>
          <p:cNvPr id="20" name="Text 13"/>
          <p:cNvSpPr/>
          <p:nvPr/>
        </p:nvSpPr>
        <p:spPr>
          <a:xfrm>
            <a:off x="523577" y="7578551"/>
            <a:ext cx="8554045" cy="89743"/>
          </a:xfrm>
          <a:prstGeom prst="rect">
            <a:avLst/>
          </a:prstGeom>
          <a:noFill/>
          <a:ln/>
        </p:spPr>
        <p:txBody>
          <a:bodyPr wrap="none" lIns="0" tIns="0" rIns="0" bIns="0" rtlCol="0" anchor="t"/>
          <a:lstStyle/>
          <a:p>
            <a:pPr algn="l" indent="0" marL="0">
              <a:lnSpc>
                <a:spcPct val="100000"/>
              </a:lnSpc>
              <a:buNone/>
            </a:pPr>
            <a:endParaRPr lang="en-US" sz="5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523577" y="511076"/>
            <a:ext cx="6000676" cy="398711"/>
          </a:xfrm>
          <a:prstGeom prst="rect">
            <a:avLst/>
          </a:prstGeom>
          <a:noFill/>
          <a:ln/>
        </p:spPr>
        <p:txBody>
          <a:bodyPr wrap="none" lIns="0" tIns="0" rIns="0" bIns="0" rtlCol="0" anchor="t"/>
          <a:lstStyle/>
          <a:p>
            <a:pPr algn="l" indent="0" marL="0">
              <a:lnSpc>
                <a:spcPct val="104000"/>
              </a:lnSpc>
              <a:buNone/>
            </a:pPr>
            <a:r>
              <a:rPr lang="en-US" sz="2500" dirty="0">
                <a:solidFill>
                  <a:srgbClr val="FFFFFF"/>
                </a:solidFill>
                <a:latin typeface="Unbounded" pitchFamily="34" charset="0"/>
                <a:ea typeface="Unbounded" pitchFamily="34" charset="-122"/>
                <a:cs typeface="Unbounded" pitchFamily="34" charset="-120"/>
              </a:rPr>
              <a:t>Nuestro Equipo de Desarrollo</a:t>
            </a:r>
            <a:endParaRPr lang="en-US" sz="2500" dirty="0"/>
          </a:p>
        </p:txBody>
      </p:sp>
      <p:sp>
        <p:nvSpPr>
          <p:cNvPr id="3" name="Text 1"/>
          <p:cNvSpPr/>
          <p:nvPr/>
        </p:nvSpPr>
        <p:spPr>
          <a:xfrm>
            <a:off x="523577" y="1155502"/>
            <a:ext cx="8096845" cy="413445"/>
          </a:xfrm>
          <a:prstGeom prst="rect">
            <a:avLst/>
          </a:prstGeom>
          <a:noFill/>
          <a:ln/>
        </p:spPr>
        <p:txBody>
          <a:bodyPr wrap="square" lIns="0" tIns="0" rIns="0" bIns="0" rtlCol="0" anchor="t">
            <a:normAutofit/>
          </a:bodyPr>
          <a:lstStyle/>
          <a:p>
            <a:pPr algn="l" indent="0" marL="0">
              <a:lnSpc>
                <a:spcPct val="127000"/>
              </a:lnSpc>
              <a:buNone/>
            </a:pPr>
            <a:r>
              <a:rPr lang="en-US" sz="1050" dirty="0">
                <a:solidFill>
                  <a:srgbClr val="CAD6DE"/>
                </a:solidFill>
                <a:latin typeface="Cabin" pitchFamily="34" charset="0"/>
                <a:ea typeface="Cabin" pitchFamily="34" charset="-122"/>
                <a:cs typeface="Cabin" pitchFamily="34" charset="-120"/>
              </a:rPr>
              <a:t>Conozca a los profesionales dedicados que impulsan nuestro proyecto. Cada miembro aporta experiencia única y un compromiso inquebrantable con la excelencia.</a:t>
            </a:r>
            <a:endParaRPr lang="en-US" sz="1050" dirty="0"/>
          </a:p>
        </p:txBody>
      </p:sp>
      <p:sp>
        <p:nvSpPr>
          <p:cNvPr id="4" name="Shape 2"/>
          <p:cNvSpPr/>
          <p:nvPr/>
        </p:nvSpPr>
        <p:spPr>
          <a:xfrm>
            <a:off x="523577" y="1707133"/>
            <a:ext cx="8096845" cy="2925217"/>
          </a:xfrm>
          <a:prstGeom prst="roundRect">
            <a:avLst>
              <a:gd name="adj" fmla="val 695"/>
            </a:avLst>
          </a:prstGeom>
          <a:noFill/>
          <a:ln w="4763">
            <a:solidFill>
              <a:srgbClr val="FFFFFF">
                <a:alpha val="24000"/>
              </a:srgbClr>
            </a:solidFill>
            <a:prstDash val="solid"/>
          </a:ln>
        </p:spPr>
      </p:sp>
      <p:sp>
        <p:nvSpPr>
          <p:cNvPr id="5" name="Text 3"/>
          <p:cNvSpPr/>
          <p:nvPr/>
        </p:nvSpPr>
        <p:spPr>
          <a:xfrm>
            <a:off x="663922" y="1790328"/>
            <a:ext cx="2609850" cy="206722"/>
          </a:xfrm>
          <a:prstGeom prst="rect">
            <a:avLst/>
          </a:prstGeom>
          <a:noFill/>
          <a:ln/>
        </p:spPr>
        <p:txBody>
          <a:bodyPr wrap="none" lIns="0" tIns="0" rIns="0" bIns="0" rtlCol="0" anchor="t"/>
          <a:lstStyle/>
          <a:p>
            <a:pPr algn="l" indent="0" marL="0">
              <a:lnSpc>
                <a:spcPct val="127000"/>
              </a:lnSpc>
              <a:buNone/>
            </a:pPr>
            <a:r>
              <a:rPr lang="en-US" sz="1050" b="1" dirty="0">
                <a:solidFill>
                  <a:srgbClr val="CAD6DE"/>
                </a:solidFill>
                <a:latin typeface="Cabin Bold" pitchFamily="34" charset="0"/>
                <a:ea typeface="Cabin Bold" pitchFamily="34" charset="-122"/>
                <a:cs typeface="Cabin Bold" pitchFamily="34" charset="-120"/>
              </a:rPr>
              <a:t>Nombre</a:t>
            </a:r>
            <a:endParaRPr lang="en-US" sz="1050" dirty="0"/>
          </a:p>
        </p:txBody>
      </p:sp>
      <p:sp>
        <p:nvSpPr>
          <p:cNvPr id="6" name="Text 4"/>
          <p:cNvSpPr/>
          <p:nvPr/>
        </p:nvSpPr>
        <p:spPr>
          <a:xfrm>
            <a:off x="3092500" y="1790328"/>
            <a:ext cx="2607469" cy="206722"/>
          </a:xfrm>
          <a:prstGeom prst="rect">
            <a:avLst/>
          </a:prstGeom>
          <a:noFill/>
          <a:ln/>
        </p:spPr>
        <p:txBody>
          <a:bodyPr wrap="none" lIns="0" tIns="0" rIns="0" bIns="0" rtlCol="0" anchor="t"/>
          <a:lstStyle/>
          <a:p>
            <a:pPr algn="l" indent="0" marL="0">
              <a:lnSpc>
                <a:spcPct val="127000"/>
              </a:lnSpc>
              <a:buNone/>
            </a:pPr>
            <a:r>
              <a:rPr lang="en-US" sz="1050" b="1" dirty="0">
                <a:solidFill>
                  <a:srgbClr val="CAD6DE"/>
                </a:solidFill>
                <a:latin typeface="Cabin Bold" pitchFamily="34" charset="0"/>
                <a:ea typeface="Cabin Bold" pitchFamily="34" charset="-122"/>
                <a:cs typeface="Cabin Bold" pitchFamily="34" charset="-120"/>
              </a:rPr>
              <a:t>Rol</a:t>
            </a:r>
            <a:endParaRPr lang="en-US" sz="1050" dirty="0"/>
          </a:p>
        </p:txBody>
      </p:sp>
      <p:sp>
        <p:nvSpPr>
          <p:cNvPr id="7" name="Text 5"/>
          <p:cNvSpPr/>
          <p:nvPr/>
        </p:nvSpPr>
        <p:spPr>
          <a:xfrm>
            <a:off x="5518696" y="1790328"/>
            <a:ext cx="3418582" cy="206722"/>
          </a:xfrm>
          <a:prstGeom prst="rect">
            <a:avLst/>
          </a:prstGeom>
          <a:noFill/>
          <a:ln/>
        </p:spPr>
        <p:txBody>
          <a:bodyPr wrap="none" lIns="0" tIns="0" rIns="0" bIns="0" rtlCol="0" anchor="t"/>
          <a:lstStyle/>
          <a:p>
            <a:pPr algn="l" indent="0" marL="0">
              <a:lnSpc>
                <a:spcPct val="127000"/>
              </a:lnSpc>
              <a:buNone/>
            </a:pPr>
            <a:r>
              <a:rPr lang="en-US" sz="1050" b="1" dirty="0">
                <a:solidFill>
                  <a:srgbClr val="CAD6DE"/>
                </a:solidFill>
                <a:latin typeface="Cabin Bold" pitchFamily="34" charset="0"/>
                <a:ea typeface="Cabin Bold" pitchFamily="34" charset="-122"/>
                <a:cs typeface="Cabin Bold" pitchFamily="34" charset="-120"/>
              </a:rPr>
              <a:t>Responsabilidades Clave</a:t>
            </a:r>
            <a:endParaRPr lang="en-US" sz="1050" dirty="0"/>
          </a:p>
        </p:txBody>
      </p:sp>
      <p:sp>
        <p:nvSpPr>
          <p:cNvPr id="8" name="Text 6"/>
          <p:cNvSpPr/>
          <p:nvPr/>
        </p:nvSpPr>
        <p:spPr>
          <a:xfrm>
            <a:off x="663922" y="2158678"/>
            <a:ext cx="2609850" cy="206722"/>
          </a:xfrm>
          <a:prstGeom prst="rect">
            <a:avLst/>
          </a:prstGeom>
          <a:noFill/>
          <a:ln/>
        </p:spPr>
        <p:txBody>
          <a:bodyPr wrap="none" lIns="0" tIns="0" rIns="0" bIns="0" rtlCol="0" anchor="t"/>
          <a:lstStyle/>
          <a:p>
            <a:pPr algn="l" indent="0" marL="0">
              <a:lnSpc>
                <a:spcPct val="127000"/>
              </a:lnSpc>
              <a:buNone/>
            </a:pPr>
            <a:r>
              <a:rPr lang="en-US" sz="1050" dirty="0">
                <a:solidFill>
                  <a:srgbClr val="CAD6DE"/>
                </a:solidFill>
                <a:latin typeface="Cabin" pitchFamily="34" charset="0"/>
                <a:ea typeface="Cabin" pitchFamily="34" charset="-122"/>
                <a:cs typeface="Cabin" pitchFamily="34" charset="-120"/>
              </a:rPr>
              <a:t>Gian Lucas y San Martín</a:t>
            </a:r>
            <a:endParaRPr lang="en-US" sz="1050" dirty="0"/>
          </a:p>
        </p:txBody>
      </p:sp>
      <p:sp>
        <p:nvSpPr>
          <p:cNvPr id="9" name="Text 7"/>
          <p:cNvSpPr/>
          <p:nvPr/>
        </p:nvSpPr>
        <p:spPr>
          <a:xfrm>
            <a:off x="3092500" y="2158678"/>
            <a:ext cx="2150269" cy="413445"/>
          </a:xfrm>
          <a:prstGeom prst="rect">
            <a:avLst/>
          </a:prstGeom>
          <a:noFill/>
          <a:ln/>
        </p:spPr>
        <p:txBody>
          <a:bodyPr wrap="square" lIns="0" tIns="0" rIns="0" bIns="0" rtlCol="0" anchor="t">
            <a:normAutofit/>
          </a:bodyPr>
          <a:lstStyle/>
          <a:p>
            <a:pPr algn="l" indent="0" marL="0">
              <a:lnSpc>
                <a:spcPct val="127000"/>
              </a:lnSpc>
              <a:buNone/>
            </a:pPr>
            <a:r>
              <a:rPr lang="en-US" sz="1050" dirty="0">
                <a:solidFill>
                  <a:srgbClr val="CAD6DE"/>
                </a:solidFill>
                <a:latin typeface="Cabin" pitchFamily="34" charset="0"/>
                <a:ea typeface="Cabin" pitchFamily="34" charset="-122"/>
                <a:cs typeface="Cabin" pitchFamily="34" charset="-120"/>
              </a:rPr>
              <a:t>Líder de Proyecto, Desarrollador Backend y Arquitectura</a:t>
            </a:r>
            <a:endParaRPr lang="en-US" sz="1050" dirty="0"/>
          </a:p>
        </p:txBody>
      </p:sp>
      <p:sp>
        <p:nvSpPr>
          <p:cNvPr id="10" name="Text 8"/>
          <p:cNvSpPr/>
          <p:nvPr/>
        </p:nvSpPr>
        <p:spPr>
          <a:xfrm>
            <a:off x="5518696" y="2158678"/>
            <a:ext cx="2961382" cy="826889"/>
          </a:xfrm>
          <a:prstGeom prst="rect">
            <a:avLst/>
          </a:prstGeom>
          <a:noFill/>
          <a:ln/>
        </p:spPr>
        <p:txBody>
          <a:bodyPr wrap="square" lIns="0" tIns="0" rIns="0" bIns="0" rtlCol="0" anchor="t">
            <a:normAutofit/>
          </a:bodyPr>
          <a:lstStyle/>
          <a:p>
            <a:pPr algn="l" indent="0" marL="0">
              <a:lnSpc>
                <a:spcPct val="127000"/>
              </a:lnSpc>
              <a:buNone/>
            </a:pPr>
            <a:r>
              <a:rPr lang="en-US" sz="1050" dirty="0">
                <a:solidFill>
                  <a:srgbClr val="CAD6DE"/>
                </a:solidFill>
                <a:latin typeface="Cabin" pitchFamily="34" charset="0"/>
                <a:ea typeface="Cabin" pitchFamily="34" charset="-122"/>
                <a:cs typeface="Cabin" pitchFamily="34" charset="-120"/>
              </a:rPr>
              <a:t>Supervisan la planificación y ejecución del proyecto, coordinan al equipo, desarrollan funcionalidades backend, diseñan la arquitectura del sistema y garantizan la escalabilidad e integración técnica.</a:t>
            </a:r>
            <a:endParaRPr lang="en-US" sz="1050" dirty="0"/>
          </a:p>
        </p:txBody>
      </p:sp>
      <p:sp>
        <p:nvSpPr>
          <p:cNvPr id="11" name="Text 9"/>
          <p:cNvSpPr/>
          <p:nvPr/>
        </p:nvSpPr>
        <p:spPr>
          <a:xfrm>
            <a:off x="663922" y="3147194"/>
            <a:ext cx="2609850" cy="206722"/>
          </a:xfrm>
          <a:prstGeom prst="rect">
            <a:avLst/>
          </a:prstGeom>
          <a:noFill/>
          <a:ln/>
        </p:spPr>
        <p:txBody>
          <a:bodyPr wrap="none" lIns="0" tIns="0" rIns="0" bIns="0" rtlCol="0" anchor="t"/>
          <a:lstStyle/>
          <a:p>
            <a:pPr algn="l" indent="0" marL="0">
              <a:lnSpc>
                <a:spcPct val="127000"/>
              </a:lnSpc>
              <a:buNone/>
            </a:pPr>
            <a:r>
              <a:rPr lang="en-US" sz="1050" dirty="0">
                <a:solidFill>
                  <a:srgbClr val="CAD6DE"/>
                </a:solidFill>
                <a:latin typeface="Cabin" pitchFamily="34" charset="0"/>
                <a:ea typeface="Cabin" pitchFamily="34" charset="-122"/>
                <a:cs typeface="Cabin" pitchFamily="34" charset="-120"/>
              </a:rPr>
              <a:t>Nicolás Lagos</a:t>
            </a:r>
            <a:endParaRPr lang="en-US" sz="1050" dirty="0"/>
          </a:p>
        </p:txBody>
      </p:sp>
      <p:sp>
        <p:nvSpPr>
          <p:cNvPr id="12" name="Text 10"/>
          <p:cNvSpPr/>
          <p:nvPr/>
        </p:nvSpPr>
        <p:spPr>
          <a:xfrm>
            <a:off x="3092500" y="3147194"/>
            <a:ext cx="2607469" cy="206722"/>
          </a:xfrm>
          <a:prstGeom prst="rect">
            <a:avLst/>
          </a:prstGeom>
          <a:noFill/>
          <a:ln/>
        </p:spPr>
        <p:txBody>
          <a:bodyPr wrap="none" lIns="0" tIns="0" rIns="0" bIns="0" rtlCol="0" anchor="t"/>
          <a:lstStyle/>
          <a:p>
            <a:pPr algn="l" indent="0" marL="0">
              <a:lnSpc>
                <a:spcPct val="127000"/>
              </a:lnSpc>
              <a:buNone/>
            </a:pPr>
            <a:r>
              <a:rPr lang="en-US" sz="1050" dirty="0">
                <a:solidFill>
                  <a:srgbClr val="CAD6DE"/>
                </a:solidFill>
                <a:latin typeface="Cabin" pitchFamily="34" charset="0"/>
                <a:ea typeface="Cabin" pitchFamily="34" charset="-122"/>
                <a:cs typeface="Cabin" pitchFamily="34" charset="-120"/>
              </a:rPr>
              <a:t>Frontend y Base de Datos</a:t>
            </a:r>
            <a:endParaRPr lang="en-US" sz="1050" dirty="0"/>
          </a:p>
        </p:txBody>
      </p:sp>
      <p:sp>
        <p:nvSpPr>
          <p:cNvPr id="13" name="Text 11"/>
          <p:cNvSpPr/>
          <p:nvPr/>
        </p:nvSpPr>
        <p:spPr>
          <a:xfrm>
            <a:off x="5518696" y="3147194"/>
            <a:ext cx="2961382" cy="620167"/>
          </a:xfrm>
          <a:prstGeom prst="rect">
            <a:avLst/>
          </a:prstGeom>
          <a:noFill/>
          <a:ln/>
        </p:spPr>
        <p:txBody>
          <a:bodyPr wrap="square" lIns="0" tIns="0" rIns="0" bIns="0" rtlCol="0" anchor="t">
            <a:normAutofit/>
          </a:bodyPr>
          <a:lstStyle/>
          <a:p>
            <a:pPr algn="l" indent="0" marL="0">
              <a:lnSpc>
                <a:spcPct val="127000"/>
              </a:lnSpc>
              <a:buNone/>
            </a:pPr>
            <a:r>
              <a:rPr lang="en-US" sz="1050" dirty="0">
                <a:solidFill>
                  <a:srgbClr val="CAD6DE"/>
                </a:solidFill>
                <a:latin typeface="Cabin" pitchFamily="34" charset="0"/>
                <a:ea typeface="Cabin" pitchFamily="34" charset="-122"/>
                <a:cs typeface="Cabin" pitchFamily="34" charset="-120"/>
              </a:rPr>
              <a:t>Desarrolla la interfaz de usuario, optimiza la experiencia frontend y gestiona la estructura y el mantenimiento de la base de datos.</a:t>
            </a:r>
            <a:endParaRPr lang="en-US" sz="1050" dirty="0"/>
          </a:p>
        </p:txBody>
      </p:sp>
      <p:sp>
        <p:nvSpPr>
          <p:cNvPr id="14" name="Text 12"/>
          <p:cNvSpPr/>
          <p:nvPr/>
        </p:nvSpPr>
        <p:spPr>
          <a:xfrm>
            <a:off x="663922" y="3928988"/>
            <a:ext cx="2609850" cy="206722"/>
          </a:xfrm>
          <a:prstGeom prst="rect">
            <a:avLst/>
          </a:prstGeom>
          <a:noFill/>
          <a:ln/>
        </p:spPr>
        <p:txBody>
          <a:bodyPr wrap="none" lIns="0" tIns="0" rIns="0" bIns="0" rtlCol="0" anchor="t"/>
          <a:lstStyle/>
          <a:p>
            <a:pPr algn="l" indent="0" marL="0">
              <a:lnSpc>
                <a:spcPct val="127000"/>
              </a:lnSpc>
              <a:buNone/>
            </a:pPr>
            <a:r>
              <a:rPr lang="en-US" sz="1050" dirty="0">
                <a:solidFill>
                  <a:srgbClr val="CAD6DE"/>
                </a:solidFill>
                <a:latin typeface="Cabin" pitchFamily="34" charset="0"/>
                <a:ea typeface="Cabin" pitchFamily="34" charset="-122"/>
                <a:cs typeface="Cabin" pitchFamily="34" charset="-120"/>
              </a:rPr>
              <a:t>Pedro Arriaza</a:t>
            </a:r>
            <a:endParaRPr lang="en-US" sz="1050" dirty="0"/>
          </a:p>
        </p:txBody>
      </p:sp>
      <p:sp>
        <p:nvSpPr>
          <p:cNvPr id="15" name="Text 13"/>
          <p:cNvSpPr/>
          <p:nvPr/>
        </p:nvSpPr>
        <p:spPr>
          <a:xfrm>
            <a:off x="3092500" y="3928988"/>
            <a:ext cx="2607469" cy="206722"/>
          </a:xfrm>
          <a:prstGeom prst="rect">
            <a:avLst/>
          </a:prstGeom>
          <a:noFill/>
          <a:ln/>
        </p:spPr>
        <p:txBody>
          <a:bodyPr wrap="none" lIns="0" tIns="0" rIns="0" bIns="0" rtlCol="0" anchor="t"/>
          <a:lstStyle/>
          <a:p>
            <a:pPr algn="l" indent="0" marL="0">
              <a:lnSpc>
                <a:spcPct val="127000"/>
              </a:lnSpc>
              <a:buNone/>
            </a:pPr>
            <a:r>
              <a:rPr lang="en-US" sz="1050" dirty="0">
                <a:solidFill>
                  <a:srgbClr val="CAD6DE"/>
                </a:solidFill>
                <a:latin typeface="Cabin" pitchFamily="34" charset="0"/>
                <a:ea typeface="Cabin" pitchFamily="34" charset="-122"/>
                <a:cs typeface="Cabin" pitchFamily="34" charset="-120"/>
              </a:rPr>
              <a:t>QA Testing</a:t>
            </a:r>
            <a:endParaRPr lang="en-US" sz="1050" dirty="0"/>
          </a:p>
        </p:txBody>
      </p:sp>
      <p:sp>
        <p:nvSpPr>
          <p:cNvPr id="16" name="Text 14"/>
          <p:cNvSpPr/>
          <p:nvPr/>
        </p:nvSpPr>
        <p:spPr>
          <a:xfrm>
            <a:off x="5518696" y="3928988"/>
            <a:ext cx="2961382" cy="620167"/>
          </a:xfrm>
          <a:prstGeom prst="rect">
            <a:avLst/>
          </a:prstGeom>
          <a:noFill/>
          <a:ln/>
        </p:spPr>
        <p:txBody>
          <a:bodyPr wrap="square" lIns="0" tIns="0" rIns="0" bIns="0" rtlCol="0" anchor="t">
            <a:normAutofit/>
          </a:bodyPr>
          <a:lstStyle/>
          <a:p>
            <a:pPr algn="l" indent="0" marL="0">
              <a:lnSpc>
                <a:spcPct val="127000"/>
              </a:lnSpc>
              <a:buNone/>
            </a:pPr>
            <a:r>
              <a:rPr lang="en-US" sz="1050" dirty="0">
                <a:solidFill>
                  <a:srgbClr val="CAD6DE"/>
                </a:solidFill>
                <a:latin typeface="Cabin" pitchFamily="34" charset="0"/>
                <a:ea typeface="Cabin" pitchFamily="34" charset="-122"/>
                <a:cs typeface="Cabin" pitchFamily="34" charset="-120"/>
              </a:rPr>
              <a:t>Realiza pruebas de calidad, detecta errores, valida funcionalidades y asegura que el producto cumpla con los estándares definidos.</a:t>
            </a:r>
            <a:endParaRPr lang="en-US" sz="10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2693268" y="436811"/>
            <a:ext cx="3757464" cy="412477"/>
          </a:xfrm>
          <a:prstGeom prst="rect">
            <a:avLst/>
          </a:prstGeom>
          <a:noFill/>
          <a:ln/>
        </p:spPr>
        <p:txBody>
          <a:bodyPr wrap="none" lIns="0" tIns="0" rIns="0" bIns="0" rtlCol="0" anchor="t"/>
          <a:lstStyle/>
          <a:p>
            <a:pPr algn="ctr" indent="0" marL="0">
              <a:lnSpc>
                <a:spcPct val="104000"/>
              </a:lnSpc>
              <a:buNone/>
            </a:pPr>
            <a:r>
              <a:rPr lang="en-US" sz="2550" dirty="0">
                <a:solidFill>
                  <a:srgbClr val="FFFFFF"/>
                </a:solidFill>
                <a:latin typeface="Unbounded" pitchFamily="34" charset="0"/>
                <a:ea typeface="Unbounded" pitchFamily="34" charset="-122"/>
                <a:cs typeface="Unbounded" pitchFamily="34" charset="-120"/>
              </a:rPr>
              <a:t>Agenda</a:t>
            </a:r>
            <a:endParaRPr lang="en-US" sz="2550" dirty="0"/>
          </a:p>
        </p:txBody>
      </p:sp>
      <p:sp>
        <p:nvSpPr>
          <p:cNvPr id="3" name="Text 1"/>
          <p:cNvSpPr/>
          <p:nvPr/>
        </p:nvSpPr>
        <p:spPr>
          <a:xfrm>
            <a:off x="294977" y="1112267"/>
            <a:ext cx="8554045" cy="217363"/>
          </a:xfrm>
          <a:prstGeom prst="rect">
            <a:avLst/>
          </a:prstGeom>
          <a:noFill/>
          <a:ln/>
        </p:spPr>
        <p:txBody>
          <a:bodyPr wrap="none" lIns="0" tIns="0" rIns="0" bIns="0" rtlCol="0" anchor="t"/>
          <a:lstStyle/>
          <a:p>
            <a:pPr algn="ctr" indent="0" marL="0">
              <a:lnSpc>
                <a:spcPct val="129000"/>
              </a:lnSpc>
              <a:buNone/>
            </a:pPr>
            <a:r>
              <a:rPr lang="en-US" sz="1100" dirty="0">
                <a:solidFill>
                  <a:srgbClr val="CAD6DE"/>
                </a:solidFill>
                <a:latin typeface="Cabin" pitchFamily="34" charset="0"/>
                <a:ea typeface="Cabin" pitchFamily="34" charset="-122"/>
                <a:cs typeface="Cabin" pitchFamily="34" charset="-120"/>
              </a:rPr>
              <a:t>Un índice claro para guiar nuestra conversación de hoy.</a:t>
            </a:r>
            <a:endParaRPr lang="en-US" sz="1100" dirty="0"/>
          </a:p>
        </p:txBody>
      </p:sp>
      <p:pic>
        <p:nvPicPr>
          <p:cNvPr id="4"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523577" y="1477491"/>
            <a:ext cx="2611264" cy="1657499"/>
          </a:xfrm>
          <a:prstGeom prst="rect">
            <a:avLst/>
          </a:prstGeom>
        </p:spPr>
      </p:pic>
      <p:pic>
        <p:nvPicPr>
          <p:cNvPr id="5"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745010" y="1603697"/>
            <a:ext cx="168250" cy="168250"/>
          </a:xfrm>
          <a:prstGeom prst="rect">
            <a:avLst/>
          </a:prstGeom>
        </p:spPr>
      </p:pic>
      <p:sp>
        <p:nvSpPr>
          <p:cNvPr id="6" name="Text 2"/>
          <p:cNvSpPr/>
          <p:nvPr/>
        </p:nvSpPr>
        <p:spPr>
          <a:xfrm>
            <a:off x="682823" y="2038499"/>
            <a:ext cx="1650132" cy="206276"/>
          </a:xfrm>
          <a:prstGeom prst="rect">
            <a:avLst/>
          </a:prstGeom>
          <a:noFill/>
          <a:ln/>
        </p:spPr>
        <p:txBody>
          <a:bodyPr wrap="none" lIns="0" tIns="0" rIns="0" bIns="0" rtlCol="0" anchor="t"/>
          <a:lstStyle/>
          <a:p>
            <a:pPr algn="l" indent="0" marL="0">
              <a:lnSpc>
                <a:spcPct val="104000"/>
              </a:lnSpc>
              <a:buNone/>
            </a:pPr>
            <a:r>
              <a:rPr lang="en-US" sz="1250" dirty="0">
                <a:solidFill>
                  <a:srgbClr val="CAD6DE"/>
                </a:solidFill>
                <a:latin typeface="Unbounded" pitchFamily="34" charset="0"/>
                <a:ea typeface="Unbounded" pitchFamily="34" charset="-122"/>
                <a:cs typeface="Unbounded" pitchFamily="34" charset="-120"/>
              </a:rPr>
              <a:t>Visión General</a:t>
            </a:r>
            <a:endParaRPr lang="en-US" sz="1250" dirty="0"/>
          </a:p>
        </p:txBody>
      </p:sp>
      <p:sp>
        <p:nvSpPr>
          <p:cNvPr id="7" name="Text 3"/>
          <p:cNvSpPr/>
          <p:nvPr/>
        </p:nvSpPr>
        <p:spPr>
          <a:xfrm>
            <a:off x="682823" y="2323654"/>
            <a:ext cx="2292772" cy="434727"/>
          </a:xfrm>
          <a:prstGeom prst="rect">
            <a:avLst/>
          </a:prstGeom>
          <a:noFill/>
          <a:ln/>
        </p:spPr>
        <p:txBody>
          <a:bodyPr wrap="square" lIns="0" tIns="0" rIns="0" bIns="0" rtlCol="0" anchor="t">
            <a:normAutofit/>
          </a:bodyPr>
          <a:lstStyle/>
          <a:p>
            <a:pPr algn="l" indent="0" marL="0">
              <a:lnSpc>
                <a:spcPct val="129000"/>
              </a:lnSpc>
              <a:buNone/>
            </a:pPr>
            <a:r>
              <a:rPr lang="en-US" sz="1100" dirty="0">
                <a:solidFill>
                  <a:srgbClr val="CAD6DE"/>
                </a:solidFill>
                <a:latin typeface="Cabin" pitchFamily="34" charset="0"/>
                <a:ea typeface="Cabin" pitchFamily="34" charset="-122"/>
                <a:cs typeface="Cabin" pitchFamily="34" charset="-120"/>
              </a:rPr>
              <a:t>Establecer el contexto y los objetivos clave de nuestra presentación.</a:t>
            </a:r>
            <a:endParaRPr lang="en-US" sz="1100" dirty="0"/>
          </a:p>
        </p:txBody>
      </p:sp>
      <p:pic>
        <p:nvPicPr>
          <p:cNvPr id="8"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3266331" y="1477491"/>
            <a:ext cx="2611264" cy="1657499"/>
          </a:xfrm>
          <a:prstGeom prst="rect">
            <a:avLst/>
          </a:prstGeom>
        </p:spPr>
      </p:pic>
      <p:pic>
        <p:nvPicPr>
          <p:cNvPr id="9"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4487763" y="1603697"/>
            <a:ext cx="168250" cy="168250"/>
          </a:xfrm>
          <a:prstGeom prst="rect">
            <a:avLst/>
          </a:prstGeom>
        </p:spPr>
      </p:pic>
      <p:sp>
        <p:nvSpPr>
          <p:cNvPr id="10" name="Text 4"/>
          <p:cNvSpPr/>
          <p:nvPr/>
        </p:nvSpPr>
        <p:spPr>
          <a:xfrm>
            <a:off x="3425577" y="2038499"/>
            <a:ext cx="1990204" cy="206276"/>
          </a:xfrm>
          <a:prstGeom prst="rect">
            <a:avLst/>
          </a:prstGeom>
          <a:noFill/>
          <a:ln/>
        </p:spPr>
        <p:txBody>
          <a:bodyPr wrap="none" lIns="0" tIns="0" rIns="0" bIns="0" rtlCol="0" anchor="t"/>
          <a:lstStyle/>
          <a:p>
            <a:pPr algn="l" indent="0" marL="0">
              <a:lnSpc>
                <a:spcPct val="104000"/>
              </a:lnSpc>
              <a:buNone/>
            </a:pPr>
            <a:r>
              <a:rPr lang="en-US" sz="1250" dirty="0">
                <a:solidFill>
                  <a:srgbClr val="CAD6DE"/>
                </a:solidFill>
                <a:latin typeface="Unbounded" pitchFamily="34" charset="0"/>
                <a:ea typeface="Unbounded" pitchFamily="34" charset="-122"/>
                <a:cs typeface="Unbounded" pitchFamily="34" charset="-120"/>
              </a:rPr>
              <a:t>Análisis de Mercado</a:t>
            </a:r>
            <a:endParaRPr lang="en-US" sz="1250" dirty="0"/>
          </a:p>
        </p:txBody>
      </p:sp>
      <p:sp>
        <p:nvSpPr>
          <p:cNvPr id="11" name="Text 5"/>
          <p:cNvSpPr/>
          <p:nvPr/>
        </p:nvSpPr>
        <p:spPr>
          <a:xfrm>
            <a:off x="3425577" y="2323654"/>
            <a:ext cx="2292772" cy="652090"/>
          </a:xfrm>
          <a:prstGeom prst="rect">
            <a:avLst/>
          </a:prstGeom>
          <a:noFill/>
          <a:ln/>
        </p:spPr>
        <p:txBody>
          <a:bodyPr wrap="square" lIns="0" tIns="0" rIns="0" bIns="0" rtlCol="0" anchor="t">
            <a:normAutofit/>
          </a:bodyPr>
          <a:lstStyle/>
          <a:p>
            <a:pPr algn="l" indent="0" marL="0">
              <a:lnSpc>
                <a:spcPct val="129000"/>
              </a:lnSpc>
              <a:buNone/>
            </a:pPr>
            <a:r>
              <a:rPr lang="en-US" sz="1100" dirty="0">
                <a:solidFill>
                  <a:srgbClr val="CAD6DE"/>
                </a:solidFill>
                <a:latin typeface="Cabin" pitchFamily="34" charset="0"/>
                <a:ea typeface="Cabin" pitchFamily="34" charset="-122"/>
                <a:cs typeface="Cabin" pitchFamily="34" charset="-120"/>
              </a:rPr>
              <a:t>Explorar las oportunidades, los desafíos y las tendencias actuales del sector.</a:t>
            </a:r>
            <a:endParaRPr lang="en-US" sz="1100" dirty="0"/>
          </a:p>
        </p:txBody>
      </p:sp>
      <p:pic>
        <p:nvPicPr>
          <p:cNvPr id="12" name="Image 4" descr="preencoded.png">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6009084" y="1477491"/>
            <a:ext cx="2611338" cy="1657499"/>
          </a:xfrm>
          <a:prstGeom prst="rect">
            <a:avLst/>
          </a:prstGeom>
        </p:spPr>
      </p:pic>
      <p:pic>
        <p:nvPicPr>
          <p:cNvPr id="13" name="Image 5" descr="preencoded.png">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7230591" y="1603697"/>
            <a:ext cx="168250" cy="168250"/>
          </a:xfrm>
          <a:prstGeom prst="rect">
            <a:avLst/>
          </a:prstGeom>
        </p:spPr>
      </p:pic>
      <p:sp>
        <p:nvSpPr>
          <p:cNvPr id="14" name="Text 6"/>
          <p:cNvSpPr/>
          <p:nvPr/>
        </p:nvSpPr>
        <p:spPr>
          <a:xfrm>
            <a:off x="6168330" y="2038499"/>
            <a:ext cx="1882378" cy="206276"/>
          </a:xfrm>
          <a:prstGeom prst="rect">
            <a:avLst/>
          </a:prstGeom>
          <a:noFill/>
          <a:ln/>
        </p:spPr>
        <p:txBody>
          <a:bodyPr wrap="none" lIns="0" tIns="0" rIns="0" bIns="0" rtlCol="0" anchor="t"/>
          <a:lstStyle/>
          <a:p>
            <a:pPr algn="l" indent="0" marL="0">
              <a:lnSpc>
                <a:spcPct val="104000"/>
              </a:lnSpc>
              <a:buNone/>
            </a:pPr>
            <a:r>
              <a:rPr lang="en-US" sz="1250" dirty="0">
                <a:solidFill>
                  <a:srgbClr val="CAD6DE"/>
                </a:solidFill>
                <a:latin typeface="Unbounded" pitchFamily="34" charset="0"/>
                <a:ea typeface="Unbounded" pitchFamily="34" charset="-122"/>
                <a:cs typeface="Unbounded" pitchFamily="34" charset="-120"/>
              </a:rPr>
              <a:t>Nuestra Propuesta</a:t>
            </a:r>
            <a:endParaRPr lang="en-US" sz="1250" dirty="0"/>
          </a:p>
        </p:txBody>
      </p:sp>
      <p:sp>
        <p:nvSpPr>
          <p:cNvPr id="15" name="Text 7"/>
          <p:cNvSpPr/>
          <p:nvPr/>
        </p:nvSpPr>
        <p:spPr>
          <a:xfrm>
            <a:off x="6168330" y="2323654"/>
            <a:ext cx="2292846" cy="652090"/>
          </a:xfrm>
          <a:prstGeom prst="rect">
            <a:avLst/>
          </a:prstGeom>
          <a:noFill/>
          <a:ln/>
        </p:spPr>
        <p:txBody>
          <a:bodyPr wrap="square" lIns="0" tIns="0" rIns="0" bIns="0" rtlCol="0" anchor="t">
            <a:normAutofit/>
          </a:bodyPr>
          <a:lstStyle/>
          <a:p>
            <a:pPr algn="l" indent="0" marL="0">
              <a:lnSpc>
                <a:spcPct val="129000"/>
              </a:lnSpc>
              <a:buNone/>
            </a:pPr>
            <a:r>
              <a:rPr lang="en-US" sz="1100" dirty="0">
                <a:solidFill>
                  <a:srgbClr val="CAD6DE"/>
                </a:solidFill>
                <a:latin typeface="Cabin" pitchFamily="34" charset="0"/>
                <a:ea typeface="Cabin" pitchFamily="34" charset="-122"/>
                <a:cs typeface="Cabin" pitchFamily="34" charset="-120"/>
              </a:rPr>
              <a:t>Presentar en detalle nuestra solución innovadora y sus características distintivas.</a:t>
            </a:r>
            <a:endParaRPr lang="en-US" sz="1100" dirty="0"/>
          </a:p>
        </p:txBody>
      </p:sp>
      <p:pic>
        <p:nvPicPr>
          <p:cNvPr id="16" name="Image 6" descr="preencoded.png">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523577" y="3266480"/>
            <a:ext cx="3982641" cy="1440135"/>
          </a:xfrm>
          <a:prstGeom prst="rect">
            <a:avLst/>
          </a:prstGeom>
        </p:spPr>
      </p:pic>
      <p:pic>
        <p:nvPicPr>
          <p:cNvPr id="17" name="Image 7" descr="preencoded.png">    </p:cNvPr>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2430735" y="3392686"/>
            <a:ext cx="168250" cy="168250"/>
          </a:xfrm>
          <a:prstGeom prst="rect">
            <a:avLst/>
          </a:prstGeom>
        </p:spPr>
      </p:pic>
      <p:sp>
        <p:nvSpPr>
          <p:cNvPr id="18" name="Text 8"/>
          <p:cNvSpPr/>
          <p:nvPr/>
        </p:nvSpPr>
        <p:spPr>
          <a:xfrm>
            <a:off x="682823" y="3827487"/>
            <a:ext cx="1650132" cy="206276"/>
          </a:xfrm>
          <a:prstGeom prst="rect">
            <a:avLst/>
          </a:prstGeom>
          <a:noFill/>
          <a:ln/>
        </p:spPr>
        <p:txBody>
          <a:bodyPr wrap="none" lIns="0" tIns="0" rIns="0" bIns="0" rtlCol="0" anchor="t"/>
          <a:lstStyle/>
          <a:p>
            <a:pPr algn="l" indent="0" marL="0">
              <a:lnSpc>
                <a:spcPct val="104000"/>
              </a:lnSpc>
              <a:buNone/>
            </a:pPr>
            <a:r>
              <a:rPr lang="en-US" sz="1250" dirty="0">
                <a:solidFill>
                  <a:srgbClr val="CAD6DE"/>
                </a:solidFill>
                <a:latin typeface="Unbounded" pitchFamily="34" charset="0"/>
                <a:ea typeface="Unbounded" pitchFamily="34" charset="-122"/>
                <a:cs typeface="Unbounded" pitchFamily="34" charset="-120"/>
              </a:rPr>
              <a:t>Hoja de Ruta</a:t>
            </a:r>
            <a:endParaRPr lang="en-US" sz="1250" dirty="0"/>
          </a:p>
        </p:txBody>
      </p:sp>
      <p:sp>
        <p:nvSpPr>
          <p:cNvPr id="19" name="Text 9"/>
          <p:cNvSpPr/>
          <p:nvPr/>
        </p:nvSpPr>
        <p:spPr>
          <a:xfrm>
            <a:off x="682823" y="4112642"/>
            <a:ext cx="3664148" cy="434727"/>
          </a:xfrm>
          <a:prstGeom prst="rect">
            <a:avLst/>
          </a:prstGeom>
          <a:noFill/>
          <a:ln/>
        </p:spPr>
        <p:txBody>
          <a:bodyPr wrap="square" lIns="0" tIns="0" rIns="0" bIns="0" rtlCol="0" anchor="t">
            <a:normAutofit/>
          </a:bodyPr>
          <a:lstStyle/>
          <a:p>
            <a:pPr algn="l" indent="0" marL="0">
              <a:lnSpc>
                <a:spcPct val="129000"/>
              </a:lnSpc>
              <a:buNone/>
            </a:pPr>
            <a:r>
              <a:rPr lang="en-US" sz="1100" dirty="0">
                <a:solidFill>
                  <a:srgbClr val="CAD6DE"/>
                </a:solidFill>
                <a:latin typeface="Cabin" pitchFamily="34" charset="0"/>
                <a:ea typeface="Cabin" pitchFamily="34" charset="-122"/>
                <a:cs typeface="Cabin" pitchFamily="34" charset="-120"/>
              </a:rPr>
              <a:t>Describir el plan de implementación, las fases clave y los hitos importantes.</a:t>
            </a:r>
            <a:endParaRPr lang="en-US" sz="1100" dirty="0"/>
          </a:p>
        </p:txBody>
      </p:sp>
      <p:pic>
        <p:nvPicPr>
          <p:cNvPr id="20" name="Image 8" descr="preencoded.png">    </p:cNvPr>
          <p:cNvPicPr>
            <a:picLocks noChangeAspect="1"/>
          </p:cNvPicPr>
          <p:nvPr/>
        </p:nvPicPr>
        <p:blipFill>
          <a:blip r:embed="rId17">
            <a:extLst>
              <a:ext uri="{96DAC541-7B7A-43D3-8B79-37D633B846F1}">
                <asvg:svgBlip xmlns:asvg="http://schemas.microsoft.com/office/drawing/2016/SVG/main" r:embed="rId18"/>
              </a:ext>
            </a:extLst>
          </a:blip>
          <a:stretch>
            <a:fillRect/>
          </a:stretch>
        </p:blipFill>
        <p:spPr>
          <a:xfrm>
            <a:off x="4637708" y="3266480"/>
            <a:ext cx="3982715" cy="1440135"/>
          </a:xfrm>
          <a:prstGeom prst="rect">
            <a:avLst/>
          </a:prstGeom>
        </p:spPr>
      </p:pic>
      <p:pic>
        <p:nvPicPr>
          <p:cNvPr id="21" name="Image 9" descr="preencoded.png">    </p:cNvPr>
          <p:cNvPicPr>
            <a:picLocks noChangeAspect="1"/>
          </p:cNvPicPr>
          <p:nvPr/>
        </p:nvPicPr>
        <p:blipFill>
          <a:blip r:embed="rId19">
            <a:extLst>
              <a:ext uri="{96DAC541-7B7A-43D3-8B79-37D633B846F1}">
                <asvg:svgBlip xmlns:asvg="http://schemas.microsoft.com/office/drawing/2016/SVG/main" r:embed="rId20"/>
              </a:ext>
            </a:extLst>
          </a:blip>
          <a:stretch>
            <a:fillRect/>
          </a:stretch>
        </p:blipFill>
        <p:spPr>
          <a:xfrm>
            <a:off x="6544866" y="3392686"/>
            <a:ext cx="168250" cy="168250"/>
          </a:xfrm>
          <a:prstGeom prst="rect">
            <a:avLst/>
          </a:prstGeom>
        </p:spPr>
      </p:pic>
      <p:sp>
        <p:nvSpPr>
          <p:cNvPr id="22" name="Text 10"/>
          <p:cNvSpPr/>
          <p:nvPr/>
        </p:nvSpPr>
        <p:spPr>
          <a:xfrm>
            <a:off x="4796954" y="3827487"/>
            <a:ext cx="3078882" cy="206276"/>
          </a:xfrm>
          <a:prstGeom prst="rect">
            <a:avLst/>
          </a:prstGeom>
          <a:noFill/>
          <a:ln/>
        </p:spPr>
        <p:txBody>
          <a:bodyPr wrap="none" lIns="0" tIns="0" rIns="0" bIns="0" rtlCol="0" anchor="t"/>
          <a:lstStyle/>
          <a:p>
            <a:pPr algn="l" indent="0" marL="0">
              <a:lnSpc>
                <a:spcPct val="104000"/>
              </a:lnSpc>
              <a:buNone/>
            </a:pPr>
            <a:r>
              <a:rPr lang="en-US" sz="1250" dirty="0">
                <a:solidFill>
                  <a:srgbClr val="CAD6DE"/>
                </a:solidFill>
                <a:latin typeface="Unbounded" pitchFamily="34" charset="0"/>
                <a:ea typeface="Unbounded" pitchFamily="34" charset="-122"/>
                <a:cs typeface="Unbounded" pitchFamily="34" charset="-120"/>
              </a:rPr>
              <a:t>Conclusiones y Próximos Pasos</a:t>
            </a:r>
            <a:endParaRPr lang="en-US" sz="1250" dirty="0"/>
          </a:p>
        </p:txBody>
      </p:sp>
      <p:sp>
        <p:nvSpPr>
          <p:cNvPr id="23" name="Text 11"/>
          <p:cNvSpPr/>
          <p:nvPr/>
        </p:nvSpPr>
        <p:spPr>
          <a:xfrm>
            <a:off x="4796954" y="4112642"/>
            <a:ext cx="3664223" cy="434727"/>
          </a:xfrm>
          <a:prstGeom prst="rect">
            <a:avLst/>
          </a:prstGeom>
          <a:noFill/>
          <a:ln/>
        </p:spPr>
        <p:txBody>
          <a:bodyPr wrap="square" lIns="0" tIns="0" rIns="0" bIns="0" rtlCol="0" anchor="t">
            <a:normAutofit/>
          </a:bodyPr>
          <a:lstStyle/>
          <a:p>
            <a:pPr algn="l" indent="0" marL="0">
              <a:lnSpc>
                <a:spcPct val="129000"/>
              </a:lnSpc>
              <a:buNone/>
            </a:pPr>
            <a:r>
              <a:rPr lang="en-US" sz="1100" dirty="0">
                <a:solidFill>
                  <a:srgbClr val="CAD6DE"/>
                </a:solidFill>
                <a:latin typeface="Cabin" pitchFamily="34" charset="0"/>
                <a:ea typeface="Cabin" pitchFamily="34" charset="-122"/>
                <a:cs typeface="Cabin" pitchFamily="34" charset="-120"/>
              </a:rPr>
              <a:t>Resumir el valor que aportamos y definir las acciones estratégicas a seguir.</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5715000" y="0"/>
            <a:ext cx="3429000" cy="5143500"/>
          </a:xfrm>
          <a:prstGeom prst="rect">
            <a:avLst/>
          </a:prstGeom>
          <a:solidFill>
            <a:srgbClr val="304755"/>
          </a:solidFill>
          <a:ln/>
        </p:spPr>
      </p:sp>
      <p:pic>
        <p:nvPicPr>
          <p:cNvPr id="3" name="Image 0" descr="preencoded.png">    </p:cNvPr>
          <p:cNvPicPr>
            <a:picLocks noChangeAspect="1"/>
          </p:cNvPicPr>
          <p:nvPr/>
        </p:nvPicPr>
        <p:blipFill>
          <a:blip r:embed="rId1"/>
          <a:stretch>
            <a:fillRect/>
          </a:stretch>
        </p:blipFill>
        <p:spPr>
          <a:xfrm>
            <a:off x="5789786" y="112142"/>
            <a:ext cx="3279428" cy="4919142"/>
          </a:xfrm>
          <a:prstGeom prst="rect">
            <a:avLst/>
          </a:prstGeom>
        </p:spPr>
      </p:pic>
      <p:sp>
        <p:nvSpPr>
          <p:cNvPr id="4" name="Text 1"/>
          <p:cNvSpPr/>
          <p:nvPr/>
        </p:nvSpPr>
        <p:spPr>
          <a:xfrm>
            <a:off x="523577" y="841995"/>
            <a:ext cx="4667845" cy="1320031"/>
          </a:xfrm>
          <a:prstGeom prst="rect">
            <a:avLst/>
          </a:prstGeom>
          <a:noFill/>
          <a:ln/>
        </p:spPr>
        <p:txBody>
          <a:bodyPr wrap="square" lIns="0" tIns="0" rIns="0" bIns="0" rtlCol="0" anchor="t">
            <a:normAutofit/>
          </a:bodyPr>
          <a:lstStyle/>
          <a:p>
            <a:pPr algn="l" indent="0" marL="0">
              <a:lnSpc>
                <a:spcPct val="104000"/>
              </a:lnSpc>
              <a:buNone/>
            </a:pPr>
            <a:r>
              <a:rPr lang="en-US" sz="2750" dirty="0">
                <a:solidFill>
                  <a:srgbClr val="FFFFFF"/>
                </a:solidFill>
                <a:latin typeface="Unbounded" pitchFamily="34" charset="0"/>
                <a:ea typeface="Unbounded" pitchFamily="34" charset="-122"/>
                <a:cs typeface="Unbounded" pitchFamily="34" charset="-120"/>
              </a:rPr>
              <a:t>Descripción General del Proyecto: ProtonLab</a:t>
            </a:r>
            <a:endParaRPr lang="en-US" sz="2750" dirty="0"/>
          </a:p>
        </p:txBody>
      </p:sp>
      <p:sp>
        <p:nvSpPr>
          <p:cNvPr id="5" name="Text 2"/>
          <p:cNvSpPr/>
          <p:nvPr/>
        </p:nvSpPr>
        <p:spPr>
          <a:xfrm>
            <a:off x="523577" y="2386385"/>
            <a:ext cx="4667845" cy="1915120"/>
          </a:xfrm>
          <a:prstGeom prst="rect">
            <a:avLst/>
          </a:prstGeom>
          <a:noFill/>
          <a:ln/>
        </p:spPr>
        <p:txBody>
          <a:bodyPr wrap="square" lIns="0" tIns="0" rIns="0" bIns="0" rtlCol="0" anchor="t">
            <a:normAutofit/>
          </a:bodyPr>
          <a:lstStyle/>
          <a:p>
            <a:pPr algn="l" indent="0" marL="0">
              <a:lnSpc>
                <a:spcPct val="133000"/>
              </a:lnSpc>
              <a:buNone/>
            </a:pPr>
            <a:r>
              <a:rPr lang="en-US" sz="1150" dirty="0">
                <a:solidFill>
                  <a:srgbClr val="CAD6DE"/>
                </a:solidFill>
                <a:latin typeface="Cabin" pitchFamily="34" charset="0"/>
                <a:ea typeface="Cabin" pitchFamily="34" charset="-122"/>
                <a:cs typeface="Cabin" pitchFamily="34" charset="-120"/>
              </a:rPr>
              <a:t>ProtonLab es una iniciativa vanguardista dedicada a la investigación y desarrollo de soluciones tecnológicas disruptivas. Su propósito fundamental es impulsar la innovación en diversos sectores, desde la energía renovable hasta la biotecnología avanzada. El alcance del proyecto abarca desde la conceptualización y creación de prototipos, hasta la validación de conceptos y la implementación de sistemas punteros. En el contexto actual, ProtonLab se posiciona como un catalizador clave para abordar desafíos críticos y fomentar el progreso tecnológico a nivel global.</a:t>
            </a:r>
            <a:endParaRPr lang="en-US" sz="11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523577" y="465013"/>
            <a:ext cx="6847508" cy="398711"/>
          </a:xfrm>
          <a:prstGeom prst="rect">
            <a:avLst/>
          </a:prstGeom>
          <a:noFill/>
          <a:ln/>
        </p:spPr>
        <p:txBody>
          <a:bodyPr wrap="none" lIns="0" tIns="0" rIns="0" bIns="0" rtlCol="0" anchor="t"/>
          <a:lstStyle/>
          <a:p>
            <a:pPr algn="l" indent="0" marL="0">
              <a:lnSpc>
                <a:spcPct val="104000"/>
              </a:lnSpc>
              <a:buNone/>
            </a:pPr>
            <a:r>
              <a:rPr lang="en-US" sz="2500" dirty="0">
                <a:solidFill>
                  <a:srgbClr val="FFFFFF"/>
                </a:solidFill>
                <a:latin typeface="Unbounded" pitchFamily="34" charset="0"/>
                <a:ea typeface="Unbounded" pitchFamily="34" charset="-122"/>
                <a:cs typeface="Unbounded" pitchFamily="34" charset="-120"/>
              </a:rPr>
              <a:t>Descripción del Mercado Objetivo</a:t>
            </a:r>
            <a:endParaRPr lang="en-US" sz="2500" dirty="0"/>
          </a:p>
        </p:txBody>
      </p:sp>
      <p:sp>
        <p:nvSpPr>
          <p:cNvPr id="3" name="Text 1"/>
          <p:cNvSpPr/>
          <p:nvPr/>
        </p:nvSpPr>
        <p:spPr>
          <a:xfrm>
            <a:off x="523577" y="1109439"/>
            <a:ext cx="8096845" cy="413445"/>
          </a:xfrm>
          <a:prstGeom prst="rect">
            <a:avLst/>
          </a:prstGeom>
          <a:noFill/>
          <a:ln/>
        </p:spPr>
        <p:txBody>
          <a:bodyPr wrap="square" lIns="0" tIns="0" rIns="0" bIns="0" rtlCol="0" anchor="t">
            <a:normAutofit/>
          </a:bodyPr>
          <a:lstStyle/>
          <a:p>
            <a:pPr algn="l" indent="0" marL="0">
              <a:lnSpc>
                <a:spcPct val="127000"/>
              </a:lnSpc>
              <a:buNone/>
            </a:pPr>
            <a:r>
              <a:rPr lang="en-US" sz="1050" dirty="0">
                <a:solidFill>
                  <a:srgbClr val="CAD6DE"/>
                </a:solidFill>
                <a:latin typeface="Cabin" pitchFamily="34" charset="0"/>
                <a:ea typeface="Cabin" pitchFamily="34" charset="-122"/>
                <a:cs typeface="Cabin" pitchFamily="34" charset="-120"/>
              </a:rPr>
              <a:t>Comprender nuestro mercado es fundamental para el éxito. Aquí analizamos los componentes clave para identificar dónde podemos generar el mayor impacto.</a:t>
            </a:r>
            <a:endParaRPr lang="en-US" sz="1050" dirty="0"/>
          </a:p>
        </p:txBody>
      </p:sp>
      <p:pic>
        <p:nvPicPr>
          <p:cNvPr id="4"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523577" y="1661071"/>
            <a:ext cx="338956" cy="338956"/>
          </a:xfrm>
          <a:prstGeom prst="rect">
            <a:avLst/>
          </a:prstGeom>
        </p:spPr>
      </p:pic>
      <p:sp>
        <p:nvSpPr>
          <p:cNvPr id="5" name="Text 2"/>
          <p:cNvSpPr/>
          <p:nvPr/>
        </p:nvSpPr>
        <p:spPr>
          <a:xfrm>
            <a:off x="523577" y="2153617"/>
            <a:ext cx="2483272" cy="199430"/>
          </a:xfrm>
          <a:prstGeom prst="rect">
            <a:avLst/>
          </a:prstGeom>
          <a:noFill/>
          <a:ln/>
        </p:spPr>
        <p:txBody>
          <a:bodyPr wrap="none" lIns="0" tIns="0" rIns="0" bIns="0" rtlCol="0" anchor="t"/>
          <a:lstStyle/>
          <a:p>
            <a:pPr algn="l" indent="0" marL="0">
              <a:lnSpc>
                <a:spcPct val="104000"/>
              </a:lnSpc>
              <a:buNone/>
            </a:pPr>
            <a:r>
              <a:rPr lang="en-US" sz="1250" dirty="0">
                <a:solidFill>
                  <a:srgbClr val="CAD6DE"/>
                </a:solidFill>
                <a:latin typeface="Unbounded" pitchFamily="34" charset="0"/>
                <a:ea typeface="Unbounded" pitchFamily="34" charset="-122"/>
                <a:cs typeface="Unbounded" pitchFamily="34" charset="-120"/>
              </a:rPr>
              <a:t>Segmentación de Clientes</a:t>
            </a:r>
            <a:endParaRPr lang="en-US" sz="1250" dirty="0"/>
          </a:p>
        </p:txBody>
      </p:sp>
      <p:sp>
        <p:nvSpPr>
          <p:cNvPr id="6" name="Text 3"/>
          <p:cNvSpPr/>
          <p:nvPr/>
        </p:nvSpPr>
        <p:spPr>
          <a:xfrm>
            <a:off x="523577" y="2426717"/>
            <a:ext cx="3971627" cy="620167"/>
          </a:xfrm>
          <a:prstGeom prst="rect">
            <a:avLst/>
          </a:prstGeom>
          <a:noFill/>
          <a:ln/>
        </p:spPr>
        <p:txBody>
          <a:bodyPr wrap="square" lIns="0" tIns="0" rIns="0" bIns="0" rtlCol="0" anchor="t">
            <a:normAutofit/>
          </a:bodyPr>
          <a:lstStyle/>
          <a:p>
            <a:pPr algn="l" indent="0" marL="0">
              <a:lnSpc>
                <a:spcPct val="127000"/>
              </a:lnSpc>
              <a:buNone/>
            </a:pPr>
            <a:r>
              <a:rPr lang="en-US" sz="1050" dirty="0">
                <a:solidFill>
                  <a:srgbClr val="CAD6DE"/>
                </a:solidFill>
                <a:latin typeface="Cabin" pitchFamily="34" charset="0"/>
                <a:ea typeface="Cabin" pitchFamily="34" charset="-122"/>
                <a:cs typeface="Cabin" pitchFamily="34" charset="-120"/>
              </a:rPr>
              <a:t>Definimos nuestros grupos de clientes objetivo basándonos en características demográficas, psicográficas, geográficas y conductuales para adaptar nuestras ofertas de manera efectiva.</a:t>
            </a:r>
            <a:endParaRPr lang="en-US" sz="1050" dirty="0"/>
          </a:p>
        </p:txBody>
      </p:sp>
      <p:pic>
        <p:nvPicPr>
          <p:cNvPr id="7"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648795" y="1661071"/>
            <a:ext cx="338956" cy="338956"/>
          </a:xfrm>
          <a:prstGeom prst="rect">
            <a:avLst/>
          </a:prstGeom>
        </p:spPr>
      </p:pic>
      <p:sp>
        <p:nvSpPr>
          <p:cNvPr id="8" name="Text 4"/>
          <p:cNvSpPr/>
          <p:nvPr/>
        </p:nvSpPr>
        <p:spPr>
          <a:xfrm>
            <a:off x="4648795" y="2153617"/>
            <a:ext cx="2003896" cy="199430"/>
          </a:xfrm>
          <a:prstGeom prst="rect">
            <a:avLst/>
          </a:prstGeom>
          <a:noFill/>
          <a:ln/>
        </p:spPr>
        <p:txBody>
          <a:bodyPr wrap="none" lIns="0" tIns="0" rIns="0" bIns="0" rtlCol="0" anchor="t"/>
          <a:lstStyle/>
          <a:p>
            <a:pPr algn="l" indent="0" marL="0">
              <a:lnSpc>
                <a:spcPct val="104000"/>
              </a:lnSpc>
              <a:buNone/>
            </a:pPr>
            <a:r>
              <a:rPr lang="en-US" sz="1250" dirty="0">
                <a:solidFill>
                  <a:srgbClr val="CAD6DE"/>
                </a:solidFill>
                <a:latin typeface="Unbounded" pitchFamily="34" charset="0"/>
                <a:ea typeface="Unbounded" pitchFamily="34" charset="-122"/>
                <a:cs typeface="Unbounded" pitchFamily="34" charset="-120"/>
              </a:rPr>
              <a:t>Tamaño del Mercado</a:t>
            </a:r>
            <a:endParaRPr lang="en-US" sz="1250" dirty="0"/>
          </a:p>
        </p:txBody>
      </p:sp>
      <p:sp>
        <p:nvSpPr>
          <p:cNvPr id="9" name="Text 5"/>
          <p:cNvSpPr/>
          <p:nvPr/>
        </p:nvSpPr>
        <p:spPr>
          <a:xfrm>
            <a:off x="4648795" y="2426717"/>
            <a:ext cx="3971627" cy="620167"/>
          </a:xfrm>
          <a:prstGeom prst="rect">
            <a:avLst/>
          </a:prstGeom>
          <a:noFill/>
          <a:ln/>
        </p:spPr>
        <p:txBody>
          <a:bodyPr wrap="square" lIns="0" tIns="0" rIns="0" bIns="0" rtlCol="0" anchor="t">
            <a:normAutofit/>
          </a:bodyPr>
          <a:lstStyle/>
          <a:p>
            <a:pPr algn="l" indent="0" marL="0">
              <a:lnSpc>
                <a:spcPct val="127000"/>
              </a:lnSpc>
              <a:buNone/>
            </a:pPr>
            <a:r>
              <a:rPr lang="en-US" sz="1050" dirty="0">
                <a:solidFill>
                  <a:srgbClr val="CAD6DE"/>
                </a:solidFill>
                <a:latin typeface="Cabin" pitchFamily="34" charset="0"/>
                <a:ea typeface="Cabin" pitchFamily="34" charset="-122"/>
                <a:cs typeface="Cabin" pitchFamily="34" charset="-120"/>
              </a:rPr>
              <a:t>Estimamos el potencial total del mercado (TAM) y los segmentos alcanzables (SAM y SOM) para cuantificar la escala de nuestra oportunidad de crecimiento.</a:t>
            </a:r>
            <a:endParaRPr lang="en-US" sz="1050" dirty="0"/>
          </a:p>
        </p:txBody>
      </p:sp>
      <p:pic>
        <p:nvPicPr>
          <p:cNvPr id="10"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523577" y="3292599"/>
            <a:ext cx="338956" cy="338956"/>
          </a:xfrm>
          <a:prstGeom prst="rect">
            <a:avLst/>
          </a:prstGeom>
        </p:spPr>
      </p:pic>
      <p:sp>
        <p:nvSpPr>
          <p:cNvPr id="11" name="Text 6"/>
          <p:cNvSpPr/>
          <p:nvPr/>
        </p:nvSpPr>
        <p:spPr>
          <a:xfrm>
            <a:off x="523577" y="3785146"/>
            <a:ext cx="1595065" cy="199430"/>
          </a:xfrm>
          <a:prstGeom prst="rect">
            <a:avLst/>
          </a:prstGeom>
          <a:noFill/>
          <a:ln/>
        </p:spPr>
        <p:txBody>
          <a:bodyPr wrap="none" lIns="0" tIns="0" rIns="0" bIns="0" rtlCol="0" anchor="t"/>
          <a:lstStyle/>
          <a:p>
            <a:pPr algn="l" indent="0" marL="0">
              <a:lnSpc>
                <a:spcPct val="104000"/>
              </a:lnSpc>
              <a:buNone/>
            </a:pPr>
            <a:r>
              <a:rPr lang="en-US" sz="1250" dirty="0">
                <a:solidFill>
                  <a:srgbClr val="CAD6DE"/>
                </a:solidFill>
                <a:latin typeface="Unbounded" pitchFamily="34" charset="0"/>
                <a:ea typeface="Unbounded" pitchFamily="34" charset="-122"/>
                <a:cs typeface="Unbounded" pitchFamily="34" charset="-120"/>
              </a:rPr>
              <a:t>Tendencias B2B</a:t>
            </a:r>
            <a:endParaRPr lang="en-US" sz="1250" dirty="0"/>
          </a:p>
        </p:txBody>
      </p:sp>
      <p:sp>
        <p:nvSpPr>
          <p:cNvPr id="12" name="Text 7"/>
          <p:cNvSpPr/>
          <p:nvPr/>
        </p:nvSpPr>
        <p:spPr>
          <a:xfrm>
            <a:off x="523577" y="4058245"/>
            <a:ext cx="3971627" cy="620167"/>
          </a:xfrm>
          <a:prstGeom prst="rect">
            <a:avLst/>
          </a:prstGeom>
          <a:noFill/>
          <a:ln/>
        </p:spPr>
        <p:txBody>
          <a:bodyPr wrap="square" lIns="0" tIns="0" rIns="0" bIns="0" rtlCol="0" anchor="t">
            <a:normAutofit/>
          </a:bodyPr>
          <a:lstStyle/>
          <a:p>
            <a:pPr algn="l" indent="0" marL="0">
              <a:lnSpc>
                <a:spcPct val="127000"/>
              </a:lnSpc>
              <a:buNone/>
            </a:pPr>
            <a:r>
              <a:rPr lang="en-US" sz="1050" dirty="0">
                <a:solidFill>
                  <a:srgbClr val="CAD6DE"/>
                </a:solidFill>
                <a:latin typeface="Cabin" pitchFamily="34" charset="0"/>
                <a:ea typeface="Cabin" pitchFamily="34" charset="-122"/>
                <a:cs typeface="Cabin" pitchFamily="34" charset="-120"/>
              </a:rPr>
              <a:t>Identificamos los cambios clave en el panorama B2B, como la transformación digital, el enfoque en la sostenibilidad y las soluciones de trabajo remoto, que influyen en las decisiones de compra.</a:t>
            </a:r>
            <a:endParaRPr lang="en-US" sz="1050" dirty="0"/>
          </a:p>
        </p:txBody>
      </p:sp>
      <p:pic>
        <p:nvPicPr>
          <p:cNvPr id="13"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4648795" y="3292599"/>
            <a:ext cx="338956" cy="338956"/>
          </a:xfrm>
          <a:prstGeom prst="rect">
            <a:avLst/>
          </a:prstGeom>
        </p:spPr>
      </p:pic>
      <p:sp>
        <p:nvSpPr>
          <p:cNvPr id="14" name="Text 8"/>
          <p:cNvSpPr/>
          <p:nvPr/>
        </p:nvSpPr>
        <p:spPr>
          <a:xfrm>
            <a:off x="4648795" y="3785146"/>
            <a:ext cx="2680692" cy="199430"/>
          </a:xfrm>
          <a:prstGeom prst="rect">
            <a:avLst/>
          </a:prstGeom>
          <a:noFill/>
          <a:ln/>
        </p:spPr>
        <p:txBody>
          <a:bodyPr wrap="none" lIns="0" tIns="0" rIns="0" bIns="0" rtlCol="0" anchor="t"/>
          <a:lstStyle/>
          <a:p>
            <a:pPr algn="l" indent="0" marL="0">
              <a:lnSpc>
                <a:spcPct val="104000"/>
              </a:lnSpc>
              <a:buNone/>
            </a:pPr>
            <a:r>
              <a:rPr lang="en-US" sz="1250" dirty="0">
                <a:solidFill>
                  <a:srgbClr val="CAD6DE"/>
                </a:solidFill>
                <a:latin typeface="Unbounded" pitchFamily="34" charset="0"/>
                <a:ea typeface="Unbounded" pitchFamily="34" charset="-122"/>
                <a:cs typeface="Unbounded" pitchFamily="34" charset="-120"/>
              </a:rPr>
              <a:t>Oportunidades Comerciales</a:t>
            </a:r>
            <a:endParaRPr lang="en-US" sz="1250" dirty="0"/>
          </a:p>
        </p:txBody>
      </p:sp>
      <p:sp>
        <p:nvSpPr>
          <p:cNvPr id="15" name="Text 9"/>
          <p:cNvSpPr/>
          <p:nvPr/>
        </p:nvSpPr>
        <p:spPr>
          <a:xfrm>
            <a:off x="4648795" y="4058245"/>
            <a:ext cx="3971627" cy="620167"/>
          </a:xfrm>
          <a:prstGeom prst="rect">
            <a:avLst/>
          </a:prstGeom>
          <a:noFill/>
          <a:ln/>
        </p:spPr>
        <p:txBody>
          <a:bodyPr wrap="square" lIns="0" tIns="0" rIns="0" bIns="0" rtlCol="0" anchor="t">
            <a:normAutofit/>
          </a:bodyPr>
          <a:lstStyle/>
          <a:p>
            <a:pPr algn="l" indent="0" marL="0">
              <a:lnSpc>
                <a:spcPct val="127000"/>
              </a:lnSpc>
              <a:buNone/>
            </a:pPr>
            <a:r>
              <a:rPr lang="en-US" sz="1050" dirty="0">
                <a:solidFill>
                  <a:srgbClr val="CAD6DE"/>
                </a:solidFill>
                <a:latin typeface="Cabin" pitchFamily="34" charset="0"/>
                <a:ea typeface="Cabin" pitchFamily="34" charset="-122"/>
                <a:cs typeface="Cabin" pitchFamily="34" charset="-120"/>
              </a:rPr>
              <a:t>Señalamos nichos sin explotar, necesidades insatisfechas y áreas de innovación donde nuestros productos y servicios pueden obtener una ventaja competitiva y generar valor.</a:t>
            </a:r>
            <a:endParaRPr lang="en-US" sz="10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1875086" y="418877"/>
            <a:ext cx="5393754" cy="219968"/>
          </a:xfrm>
          <a:prstGeom prst="rect">
            <a:avLst/>
          </a:prstGeom>
          <a:noFill/>
          <a:ln/>
        </p:spPr>
        <p:txBody>
          <a:bodyPr wrap="none" lIns="0" tIns="0" rIns="0" bIns="0" rtlCol="0" anchor="t"/>
          <a:lstStyle/>
          <a:p>
            <a:pPr algn="ctr" indent="0" marL="0">
              <a:lnSpc>
                <a:spcPct val="104000"/>
              </a:lnSpc>
              <a:buNone/>
            </a:pPr>
            <a:r>
              <a:rPr lang="en-US" sz="1350" dirty="0">
                <a:solidFill>
                  <a:srgbClr val="FFFFFF"/>
                </a:solidFill>
                <a:latin typeface="Unbounded" pitchFamily="34" charset="0"/>
                <a:ea typeface="Unbounded" pitchFamily="34" charset="-122"/>
                <a:cs typeface="Unbounded" pitchFamily="34" charset="-120"/>
              </a:rPr>
              <a:t>El Desafío: Fragmentación en Operaciones B2B</a:t>
            </a:r>
            <a:endParaRPr lang="en-US" sz="1350" dirty="0"/>
          </a:p>
        </p:txBody>
      </p:sp>
      <p:sp>
        <p:nvSpPr>
          <p:cNvPr id="3" name="Text 1"/>
          <p:cNvSpPr/>
          <p:nvPr/>
        </p:nvSpPr>
        <p:spPr>
          <a:xfrm>
            <a:off x="523577" y="713631"/>
            <a:ext cx="8554045" cy="89743"/>
          </a:xfrm>
          <a:prstGeom prst="rect">
            <a:avLst/>
          </a:prstGeom>
          <a:noFill/>
          <a:ln/>
        </p:spPr>
        <p:txBody>
          <a:bodyPr wrap="none" lIns="0" tIns="0" rIns="0" bIns="0" rtlCol="0" anchor="t"/>
          <a:lstStyle/>
          <a:p>
            <a:pPr algn="l" indent="0" marL="0">
              <a:lnSpc>
                <a:spcPct val="100000"/>
              </a:lnSpc>
              <a:buNone/>
            </a:pPr>
            <a:r>
              <a:rPr lang="en-US" sz="550" dirty="0">
                <a:solidFill>
                  <a:srgbClr val="CAD6DE"/>
                </a:solidFill>
                <a:latin typeface="Cabin" pitchFamily="34" charset="0"/>
                <a:ea typeface="Cabin" pitchFamily="34" charset="-122"/>
                <a:cs typeface="Cabin" pitchFamily="34" charset="-120"/>
              </a:rPr>
              <a:t>La eficiencia en las operaciones B2B es fundamental, pero a menudo se ve comprometida por la fragmentación. Identificamos las causas raíz clave que impiden a las empresas alcanzar su máximo potencial operativo.</a:t>
            </a:r>
            <a:endParaRPr lang="en-US" sz="550" dirty="0"/>
          </a:p>
        </p:txBody>
      </p:sp>
      <p:pic>
        <p:nvPicPr>
          <p:cNvPr id="4" name="Image 0" descr="preencoded.png">    </p:cNvPr>
          <p:cNvPicPr>
            <a:picLocks noChangeAspect="1"/>
          </p:cNvPicPr>
          <p:nvPr/>
        </p:nvPicPr>
        <p:blipFill>
          <a:blip r:embed="rId1"/>
          <a:stretch>
            <a:fillRect/>
          </a:stretch>
        </p:blipFill>
        <p:spPr>
          <a:xfrm>
            <a:off x="523577" y="845418"/>
            <a:ext cx="6553200" cy="3657600"/>
          </a:xfrm>
          <a:prstGeom prst="rect">
            <a:avLst/>
          </a:prstGeom>
        </p:spPr>
      </p:pic>
      <p:sp>
        <p:nvSpPr>
          <p:cNvPr id="5" name="Text 2"/>
          <p:cNvSpPr/>
          <p:nvPr/>
        </p:nvSpPr>
        <p:spPr>
          <a:xfrm>
            <a:off x="523577" y="4545062"/>
            <a:ext cx="8096845" cy="179487"/>
          </a:xfrm>
          <a:prstGeom prst="rect">
            <a:avLst/>
          </a:prstGeom>
          <a:noFill/>
          <a:ln/>
        </p:spPr>
        <p:txBody>
          <a:bodyPr wrap="square" lIns="0" tIns="0" rIns="0" bIns="0" rtlCol="0" anchor="t">
            <a:normAutofit/>
          </a:bodyPr>
          <a:lstStyle/>
          <a:p>
            <a:pPr algn="l" indent="0" marL="0">
              <a:lnSpc>
                <a:spcPct val="100000"/>
              </a:lnSpc>
              <a:buNone/>
            </a:pPr>
            <a:r>
              <a:rPr lang="en-US" sz="550" dirty="0">
                <a:solidFill>
                  <a:srgbClr val="CAD6DE"/>
                </a:solidFill>
                <a:latin typeface="Cabin" pitchFamily="34" charset="0"/>
                <a:ea typeface="Cabin" pitchFamily="34" charset="-122"/>
                <a:cs typeface="Cabin" pitchFamily="34" charset="-120"/>
              </a:rPr>
              <a:t>Como ilustra el diagrama, la fragmentación no es un problema único, sino el resultado de múltiples factores interconectados. ProtonLab aborda cada una de estas causas raíz ofreciendo una plataforma unificada que integra sistemas, optimiza procesos, centraliza datos y fomenta la colaboración en tiempo real, transformando así las operaciones B2B.</a:t>
            </a:r>
            <a:endParaRPr lang="en-US" sz="5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3429000" cy="5143500"/>
          </a:xfrm>
          <a:prstGeom prst="rect">
            <a:avLst/>
          </a:prstGeom>
          <a:solidFill>
            <a:srgbClr val="304755"/>
          </a:solidFill>
          <a:ln/>
        </p:spPr>
      </p:sp>
      <p:pic>
        <p:nvPicPr>
          <p:cNvPr id="3" name="Image 0" descr="preencoded.png">    </p:cNvPr>
          <p:cNvPicPr>
            <a:picLocks noChangeAspect="1"/>
          </p:cNvPicPr>
          <p:nvPr/>
        </p:nvPicPr>
        <p:blipFill>
          <a:blip r:embed="rId1"/>
          <a:stretch>
            <a:fillRect/>
          </a:stretch>
        </p:blipFill>
        <p:spPr>
          <a:xfrm>
            <a:off x="39737" y="59606"/>
            <a:ext cx="3349526" cy="5024289"/>
          </a:xfrm>
          <a:prstGeom prst="rect">
            <a:avLst/>
          </a:prstGeom>
        </p:spPr>
      </p:pic>
      <p:sp>
        <p:nvSpPr>
          <p:cNvPr id="4" name="Text 1"/>
          <p:cNvSpPr/>
          <p:nvPr/>
        </p:nvSpPr>
        <p:spPr>
          <a:xfrm>
            <a:off x="3952577" y="474315"/>
            <a:ext cx="2955727" cy="233735"/>
          </a:xfrm>
          <a:prstGeom prst="rect">
            <a:avLst/>
          </a:prstGeom>
          <a:noFill/>
          <a:ln/>
        </p:spPr>
        <p:txBody>
          <a:bodyPr wrap="none" lIns="0" tIns="0" rIns="0" bIns="0" rtlCol="0" anchor="t"/>
          <a:lstStyle/>
          <a:p>
            <a:pPr algn="l" indent="0" marL="0">
              <a:lnSpc>
                <a:spcPct val="104000"/>
              </a:lnSpc>
              <a:buNone/>
            </a:pPr>
            <a:r>
              <a:rPr lang="en-US" sz="1450" dirty="0">
                <a:solidFill>
                  <a:srgbClr val="FFFFFF"/>
                </a:solidFill>
                <a:latin typeface="Unbounded" pitchFamily="34" charset="0"/>
                <a:ea typeface="Unbounded" pitchFamily="34" charset="-122"/>
                <a:cs typeface="Unbounded" pitchFamily="34" charset="-120"/>
              </a:rPr>
              <a:t>Objetivos del Proyecto</a:t>
            </a:r>
            <a:endParaRPr lang="en-US" sz="1450" dirty="0"/>
          </a:p>
        </p:txBody>
      </p:sp>
      <p:sp>
        <p:nvSpPr>
          <p:cNvPr id="5" name="Text 2"/>
          <p:cNvSpPr/>
          <p:nvPr/>
        </p:nvSpPr>
        <p:spPr>
          <a:xfrm>
            <a:off x="3952577" y="771376"/>
            <a:ext cx="5125045" cy="97334"/>
          </a:xfrm>
          <a:prstGeom prst="rect">
            <a:avLst/>
          </a:prstGeom>
          <a:noFill/>
          <a:ln/>
        </p:spPr>
        <p:txBody>
          <a:bodyPr wrap="none" lIns="0" tIns="0" rIns="0" bIns="0" rtlCol="0" anchor="t"/>
          <a:lstStyle/>
          <a:p>
            <a:pPr algn="l" indent="0" marL="0">
              <a:lnSpc>
                <a:spcPct val="102000"/>
              </a:lnSpc>
              <a:buNone/>
            </a:pPr>
            <a:r>
              <a:rPr lang="en-US" sz="600" dirty="0">
                <a:solidFill>
                  <a:srgbClr val="CAD6DE"/>
                </a:solidFill>
                <a:latin typeface="Cabin" pitchFamily="34" charset="0"/>
                <a:ea typeface="Cabin" pitchFamily="34" charset="-122"/>
                <a:cs typeface="Cabin" pitchFamily="34" charset="-120"/>
              </a:rPr>
              <a:t>Definir claramente lo que buscamos lograr con este proyecto, desde metas amplias hasta indicadores específicos de éxito.</a:t>
            </a:r>
            <a:endParaRPr lang="en-US" sz="600" dirty="0"/>
          </a:p>
        </p:txBody>
      </p:sp>
      <p:pic>
        <p:nvPicPr>
          <p:cNvPr id="6" name="Image 1" descr="preencoded.png">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3952577" y="916186"/>
            <a:ext cx="4667845" cy="906587"/>
          </a:xfrm>
          <a:prstGeom prst="rect">
            <a:avLst/>
          </a:prstGeom>
        </p:spPr>
      </p:pic>
      <p:sp>
        <p:nvSpPr>
          <p:cNvPr id="7" name="Shape 3"/>
          <p:cNvSpPr/>
          <p:nvPr/>
        </p:nvSpPr>
        <p:spPr>
          <a:xfrm>
            <a:off x="4322192" y="1005185"/>
            <a:ext cx="457795" cy="125462"/>
          </a:xfrm>
          <a:prstGeom prst="roundRect">
            <a:avLst>
              <a:gd name="adj" fmla="val 7602"/>
            </a:avLst>
          </a:prstGeom>
          <a:solidFill>
            <a:srgbClr val="054842"/>
          </a:solidFill>
          <a:ln/>
        </p:spPr>
      </p:sp>
      <p:sp>
        <p:nvSpPr>
          <p:cNvPr id="8" name="Shape 4"/>
          <p:cNvSpPr/>
          <p:nvPr/>
        </p:nvSpPr>
        <p:spPr>
          <a:xfrm>
            <a:off x="4369817" y="1036141"/>
            <a:ext cx="63550" cy="63550"/>
          </a:xfrm>
          <a:prstGeom prst="rect">
            <a:avLst/>
          </a:prstGeom>
          <a:solidFill>
            <a:srgbClr val="CAD6DE"/>
          </a:solidFill>
          <a:ln/>
        </p:spPr>
      </p:sp>
      <p:sp>
        <p:nvSpPr>
          <p:cNvPr id="9" name="Text 5"/>
          <p:cNvSpPr/>
          <p:nvPr/>
        </p:nvSpPr>
        <p:spPr>
          <a:xfrm>
            <a:off x="4465141" y="1028998"/>
            <a:ext cx="267221" cy="77837"/>
          </a:xfrm>
          <a:prstGeom prst="rect">
            <a:avLst/>
          </a:prstGeom>
          <a:noFill/>
          <a:ln/>
        </p:spPr>
        <p:txBody>
          <a:bodyPr wrap="none" lIns="0" tIns="0" rIns="0" bIns="0" rtlCol="0" anchor="t"/>
          <a:lstStyle/>
          <a:p>
            <a:pPr algn="l" indent="0" marL="0">
              <a:lnSpc>
                <a:spcPct val="102000"/>
              </a:lnSpc>
              <a:buNone/>
            </a:pPr>
            <a:r>
              <a:rPr lang="en-US" sz="500" dirty="0">
                <a:solidFill>
                  <a:srgbClr val="CAD6DE"/>
                </a:solidFill>
                <a:latin typeface="Cabin" pitchFamily="34" charset="0"/>
                <a:ea typeface="Cabin" pitchFamily="34" charset="-122"/>
                <a:cs typeface="Cabin" pitchFamily="34" charset="-120"/>
              </a:rPr>
              <a:t>GENERAL</a:t>
            </a:r>
            <a:endParaRPr lang="en-US" sz="500" dirty="0"/>
          </a:p>
        </p:txBody>
      </p:sp>
      <p:sp>
        <p:nvSpPr>
          <p:cNvPr id="10" name="Text 6"/>
          <p:cNvSpPr/>
          <p:nvPr/>
        </p:nvSpPr>
        <p:spPr>
          <a:xfrm>
            <a:off x="4322192" y="1147465"/>
            <a:ext cx="1119262" cy="116904"/>
          </a:xfrm>
          <a:prstGeom prst="rect">
            <a:avLst/>
          </a:prstGeom>
          <a:noFill/>
          <a:ln/>
        </p:spPr>
        <p:txBody>
          <a:bodyPr wrap="none" lIns="0" tIns="0" rIns="0" bIns="0" rtlCol="0" anchor="t"/>
          <a:lstStyle/>
          <a:p>
            <a:pPr algn="l" indent="0" marL="0">
              <a:lnSpc>
                <a:spcPct val="104000"/>
              </a:lnSpc>
              <a:buNone/>
            </a:pPr>
            <a:r>
              <a:rPr lang="en-US" sz="700" dirty="0">
                <a:solidFill>
                  <a:srgbClr val="CAD6DE"/>
                </a:solidFill>
                <a:latin typeface="Unbounded" pitchFamily="34" charset="0"/>
                <a:ea typeface="Unbounded" pitchFamily="34" charset="-122"/>
                <a:cs typeface="Unbounded" pitchFamily="34" charset="-120"/>
              </a:rPr>
              <a:t>Objetivos Generales</a:t>
            </a:r>
            <a:endParaRPr lang="en-US" sz="700" dirty="0"/>
          </a:p>
        </p:txBody>
      </p:sp>
      <p:sp>
        <p:nvSpPr>
          <p:cNvPr id="11" name="Text 7"/>
          <p:cNvSpPr/>
          <p:nvPr/>
        </p:nvSpPr>
        <p:spPr>
          <a:xfrm>
            <a:off x="4322192" y="1289670"/>
            <a:ext cx="4209231" cy="97334"/>
          </a:xfrm>
          <a:prstGeom prst="rect">
            <a:avLst/>
          </a:prstGeom>
          <a:noFill/>
          <a:ln/>
        </p:spPr>
        <p:txBody>
          <a:bodyPr wrap="none" lIns="0" tIns="0" rIns="0" bIns="0" rtlCol="0" anchor="t"/>
          <a:lstStyle/>
          <a:p>
            <a:pPr algn="l" indent="0" marL="0">
              <a:lnSpc>
                <a:spcPct val="102000"/>
              </a:lnSpc>
              <a:buNone/>
            </a:pPr>
            <a:r>
              <a:rPr lang="en-US" sz="600" dirty="0">
                <a:solidFill>
                  <a:srgbClr val="CAD6DE"/>
                </a:solidFill>
                <a:latin typeface="Cabin" pitchFamily="34" charset="0"/>
                <a:ea typeface="Cabin" pitchFamily="34" charset="-122"/>
                <a:cs typeface="Cabin" pitchFamily="34" charset="-120"/>
              </a:rPr>
              <a:t>Establecer la dirección principal y el propósito a largo plazo del proyecto.</a:t>
            </a:r>
            <a:endParaRPr lang="en-US" sz="600" dirty="0"/>
          </a:p>
        </p:txBody>
      </p:sp>
      <p:sp>
        <p:nvSpPr>
          <p:cNvPr id="12" name="Text 8"/>
          <p:cNvSpPr/>
          <p:nvPr/>
        </p:nvSpPr>
        <p:spPr>
          <a:xfrm>
            <a:off x="4322192" y="1412304"/>
            <a:ext cx="4209231" cy="321469"/>
          </a:xfrm>
          <a:prstGeom prst="rect">
            <a:avLst/>
          </a:prstGeom>
          <a:noFill/>
          <a:ln/>
        </p:spPr>
        <p:txBody>
          <a:bodyPr wrap="square" lIns="0" tIns="0" rIns="0" bIns="0" rtlCol="0" anchor="t">
            <a:normAutofit/>
          </a:bodyPr>
          <a:lstStyle/>
          <a:p>
            <a:pPr algn="l" marL="121920" indent="-121920">
              <a:lnSpc>
                <a:spcPct val="102000"/>
              </a:lnSpc>
              <a:buSzPct val="100000"/>
              <a:buChar char="•"/>
            </a:pPr>
            <a:r>
              <a:rPr lang="en-US" sz="600" dirty="0">
                <a:solidFill>
                  <a:srgbClr val="CAD6DE"/>
                </a:solidFill>
                <a:latin typeface="Cabin" pitchFamily="34" charset="0"/>
                <a:ea typeface="Cabin" pitchFamily="34" charset="-122"/>
                <a:cs typeface="Cabin" pitchFamily="34" charset="-120"/>
              </a:rPr>
              <a:t>Mejorar la eficiencia operativa en un 20%.</a:t>
            </a:r>
            <a:endParaRPr lang="en-US" sz="600" dirty="0"/>
          </a:p>
          <a:p>
            <a:pPr algn="l" marL="121920" indent="-121920">
              <a:lnSpc>
                <a:spcPct val="102000"/>
              </a:lnSpc>
              <a:buSzPct val="100000"/>
              <a:buChar char="•"/>
            </a:pPr>
            <a:r>
              <a:rPr lang="en-US" sz="600" dirty="0">
                <a:solidFill>
                  <a:srgbClr val="CAD6DE"/>
                </a:solidFill>
                <a:latin typeface="Cabin" pitchFamily="34" charset="0"/>
                <a:ea typeface="Cabin" pitchFamily="34" charset="-122"/>
                <a:cs typeface="Cabin" pitchFamily="34" charset="-120"/>
              </a:rPr>
              <a:t>Expandir la cuota de mercado en nuevas regiones.</a:t>
            </a:r>
            <a:endParaRPr lang="en-US" sz="600" dirty="0"/>
          </a:p>
          <a:p>
            <a:pPr algn="l" marL="121920" indent="-121920">
              <a:lnSpc>
                <a:spcPct val="102000"/>
              </a:lnSpc>
              <a:buSzPct val="100000"/>
              <a:buChar char="•"/>
            </a:pPr>
            <a:r>
              <a:rPr lang="en-US" sz="600" dirty="0">
                <a:solidFill>
                  <a:srgbClr val="CAD6DE"/>
                </a:solidFill>
                <a:latin typeface="Cabin" pitchFamily="34" charset="0"/>
                <a:ea typeface="Cabin" pitchFamily="34" charset="-122"/>
                <a:cs typeface="Cabin" pitchFamily="34" charset="-120"/>
              </a:rPr>
              <a:t>Fortalecer la satisfacción del cliente.</a:t>
            </a:r>
            <a:endParaRPr lang="en-US" sz="600" dirty="0"/>
          </a:p>
        </p:txBody>
      </p:sp>
      <p:pic>
        <p:nvPicPr>
          <p:cNvPr id="13" name="Image 2" descr="preencoded.png">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3952577" y="1864965"/>
            <a:ext cx="4667845" cy="906587"/>
          </a:xfrm>
          <a:prstGeom prst="rect">
            <a:avLst/>
          </a:prstGeom>
        </p:spPr>
      </p:pic>
      <p:sp>
        <p:nvSpPr>
          <p:cNvPr id="14" name="Shape 9"/>
          <p:cNvSpPr/>
          <p:nvPr/>
        </p:nvSpPr>
        <p:spPr>
          <a:xfrm>
            <a:off x="4322192" y="1953964"/>
            <a:ext cx="562868" cy="125462"/>
          </a:xfrm>
          <a:prstGeom prst="roundRect">
            <a:avLst>
              <a:gd name="adj" fmla="val 7602"/>
            </a:avLst>
          </a:prstGeom>
          <a:solidFill>
            <a:srgbClr val="054842"/>
          </a:solidFill>
          <a:ln/>
        </p:spPr>
      </p:sp>
      <p:sp>
        <p:nvSpPr>
          <p:cNvPr id="15" name="Shape 10"/>
          <p:cNvSpPr/>
          <p:nvPr/>
        </p:nvSpPr>
        <p:spPr>
          <a:xfrm>
            <a:off x="4369817" y="1984921"/>
            <a:ext cx="63550" cy="63550"/>
          </a:xfrm>
          <a:prstGeom prst="rect">
            <a:avLst/>
          </a:prstGeom>
          <a:solidFill>
            <a:srgbClr val="CAD6DE"/>
          </a:solidFill>
          <a:ln/>
        </p:spPr>
      </p:sp>
      <p:sp>
        <p:nvSpPr>
          <p:cNvPr id="16" name="Text 11"/>
          <p:cNvSpPr/>
          <p:nvPr/>
        </p:nvSpPr>
        <p:spPr>
          <a:xfrm>
            <a:off x="4465141" y="1977777"/>
            <a:ext cx="372294" cy="77837"/>
          </a:xfrm>
          <a:prstGeom prst="rect">
            <a:avLst/>
          </a:prstGeom>
          <a:noFill/>
          <a:ln/>
        </p:spPr>
        <p:txBody>
          <a:bodyPr wrap="none" lIns="0" tIns="0" rIns="0" bIns="0" rtlCol="0" anchor="t"/>
          <a:lstStyle/>
          <a:p>
            <a:pPr algn="l" indent="0" marL="0">
              <a:lnSpc>
                <a:spcPct val="102000"/>
              </a:lnSpc>
              <a:buNone/>
            </a:pPr>
            <a:r>
              <a:rPr lang="en-US" sz="500" dirty="0">
                <a:solidFill>
                  <a:srgbClr val="CAD6DE"/>
                </a:solidFill>
                <a:latin typeface="Cabin" pitchFamily="34" charset="0"/>
                <a:ea typeface="Cabin" pitchFamily="34" charset="-122"/>
                <a:cs typeface="Cabin" pitchFamily="34" charset="-120"/>
              </a:rPr>
              <a:t>ESPECÍFICOS</a:t>
            </a:r>
            <a:endParaRPr lang="en-US" sz="500" dirty="0"/>
          </a:p>
        </p:txBody>
      </p:sp>
      <p:sp>
        <p:nvSpPr>
          <p:cNvPr id="17" name="Text 12"/>
          <p:cNvSpPr/>
          <p:nvPr/>
        </p:nvSpPr>
        <p:spPr>
          <a:xfrm>
            <a:off x="4322192" y="2096244"/>
            <a:ext cx="1200894" cy="116904"/>
          </a:xfrm>
          <a:prstGeom prst="rect">
            <a:avLst/>
          </a:prstGeom>
          <a:noFill/>
          <a:ln/>
        </p:spPr>
        <p:txBody>
          <a:bodyPr wrap="none" lIns="0" tIns="0" rIns="0" bIns="0" rtlCol="0" anchor="t"/>
          <a:lstStyle/>
          <a:p>
            <a:pPr algn="l" indent="0" marL="0">
              <a:lnSpc>
                <a:spcPct val="104000"/>
              </a:lnSpc>
              <a:buNone/>
            </a:pPr>
            <a:r>
              <a:rPr lang="en-US" sz="700" dirty="0">
                <a:solidFill>
                  <a:srgbClr val="CAD6DE"/>
                </a:solidFill>
                <a:latin typeface="Unbounded" pitchFamily="34" charset="0"/>
                <a:ea typeface="Unbounded" pitchFamily="34" charset="-122"/>
                <a:cs typeface="Unbounded" pitchFamily="34" charset="-120"/>
              </a:rPr>
              <a:t>Objetivos Específicos</a:t>
            </a:r>
            <a:endParaRPr lang="en-US" sz="700" dirty="0"/>
          </a:p>
        </p:txBody>
      </p:sp>
      <p:sp>
        <p:nvSpPr>
          <p:cNvPr id="18" name="Text 13"/>
          <p:cNvSpPr/>
          <p:nvPr/>
        </p:nvSpPr>
        <p:spPr>
          <a:xfrm>
            <a:off x="4322192" y="2238449"/>
            <a:ext cx="4209231" cy="97334"/>
          </a:xfrm>
          <a:prstGeom prst="rect">
            <a:avLst/>
          </a:prstGeom>
          <a:noFill/>
          <a:ln/>
        </p:spPr>
        <p:txBody>
          <a:bodyPr wrap="none" lIns="0" tIns="0" rIns="0" bIns="0" rtlCol="0" anchor="t"/>
          <a:lstStyle/>
          <a:p>
            <a:pPr algn="l" indent="0" marL="0">
              <a:lnSpc>
                <a:spcPct val="102000"/>
              </a:lnSpc>
              <a:buNone/>
            </a:pPr>
            <a:r>
              <a:rPr lang="en-US" sz="600" dirty="0">
                <a:solidFill>
                  <a:srgbClr val="CAD6DE"/>
                </a:solidFill>
                <a:latin typeface="Cabin" pitchFamily="34" charset="0"/>
                <a:ea typeface="Cabin" pitchFamily="34" charset="-122"/>
                <a:cs typeface="Cabin" pitchFamily="34" charset="-120"/>
              </a:rPr>
              <a:t>Metas cuantificables y con plazos definidos que contribuyen a los objetivos generales.</a:t>
            </a:r>
            <a:endParaRPr lang="en-US" sz="600" dirty="0"/>
          </a:p>
        </p:txBody>
      </p:sp>
      <p:sp>
        <p:nvSpPr>
          <p:cNvPr id="19" name="Text 14"/>
          <p:cNvSpPr/>
          <p:nvPr/>
        </p:nvSpPr>
        <p:spPr>
          <a:xfrm>
            <a:off x="4322192" y="2361084"/>
            <a:ext cx="4209231" cy="321469"/>
          </a:xfrm>
          <a:prstGeom prst="rect">
            <a:avLst/>
          </a:prstGeom>
          <a:noFill/>
          <a:ln/>
        </p:spPr>
        <p:txBody>
          <a:bodyPr wrap="square" lIns="0" tIns="0" rIns="0" bIns="0" rtlCol="0" anchor="t">
            <a:normAutofit/>
          </a:bodyPr>
          <a:lstStyle/>
          <a:p>
            <a:pPr algn="l" marL="121920" indent="-121920">
              <a:lnSpc>
                <a:spcPct val="102000"/>
              </a:lnSpc>
              <a:buSzPct val="100000"/>
              <a:buChar char="•"/>
            </a:pPr>
            <a:r>
              <a:rPr lang="en-US" sz="600" dirty="0">
                <a:solidFill>
                  <a:srgbClr val="CAD6DE"/>
                </a:solidFill>
                <a:latin typeface="Cabin" pitchFamily="34" charset="0"/>
                <a:ea typeface="Cabin" pitchFamily="34" charset="-122"/>
                <a:cs typeface="Cabin" pitchFamily="34" charset="-120"/>
              </a:rPr>
              <a:t>Reducir el tiempo de procesamiento de pedidos en un 15% para Q3.</a:t>
            </a:r>
            <a:endParaRPr lang="en-US" sz="600" dirty="0"/>
          </a:p>
          <a:p>
            <a:pPr algn="l" marL="121920" indent="-121920">
              <a:lnSpc>
                <a:spcPct val="102000"/>
              </a:lnSpc>
              <a:buSzPct val="100000"/>
              <a:buChar char="•"/>
            </a:pPr>
            <a:r>
              <a:rPr lang="en-US" sz="600" dirty="0">
                <a:solidFill>
                  <a:srgbClr val="CAD6DE"/>
                </a:solidFill>
                <a:latin typeface="Cabin" pitchFamily="34" charset="0"/>
                <a:ea typeface="Cabin" pitchFamily="34" charset="-122"/>
                <a:cs typeface="Cabin" pitchFamily="34" charset="-120"/>
              </a:rPr>
              <a:t>Lanzar el nuevo producto en tres mercados para fin de año.</a:t>
            </a:r>
            <a:endParaRPr lang="en-US" sz="600" dirty="0"/>
          </a:p>
          <a:p>
            <a:pPr algn="l" marL="121920" indent="-121920">
              <a:lnSpc>
                <a:spcPct val="102000"/>
              </a:lnSpc>
              <a:buSzPct val="100000"/>
              <a:buChar char="•"/>
            </a:pPr>
            <a:r>
              <a:rPr lang="en-US" sz="600" dirty="0">
                <a:solidFill>
                  <a:srgbClr val="CAD6DE"/>
                </a:solidFill>
                <a:latin typeface="Cabin" pitchFamily="34" charset="0"/>
                <a:ea typeface="Cabin" pitchFamily="34" charset="-122"/>
                <a:cs typeface="Cabin" pitchFamily="34" charset="-120"/>
              </a:rPr>
              <a:t>Aumentar el Net Promoter Score (NPS) en 5 puntos en 6 meses.</a:t>
            </a:r>
            <a:endParaRPr lang="en-US" sz="600" dirty="0"/>
          </a:p>
        </p:txBody>
      </p:sp>
      <p:pic>
        <p:nvPicPr>
          <p:cNvPr id="20" name="Image 3" descr="preencoded.png">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3952577" y="2813745"/>
            <a:ext cx="4667845" cy="906587"/>
          </a:xfrm>
          <a:prstGeom prst="rect">
            <a:avLst/>
          </a:prstGeom>
        </p:spPr>
      </p:pic>
      <p:sp>
        <p:nvSpPr>
          <p:cNvPr id="21" name="Shape 15"/>
          <p:cNvSpPr/>
          <p:nvPr/>
        </p:nvSpPr>
        <p:spPr>
          <a:xfrm>
            <a:off x="4322192" y="2902744"/>
            <a:ext cx="576709" cy="125462"/>
          </a:xfrm>
          <a:prstGeom prst="roundRect">
            <a:avLst>
              <a:gd name="adj" fmla="val 7602"/>
            </a:avLst>
          </a:prstGeom>
          <a:solidFill>
            <a:srgbClr val="054842"/>
          </a:solidFill>
          <a:ln/>
        </p:spPr>
      </p:sp>
      <p:sp>
        <p:nvSpPr>
          <p:cNvPr id="22" name="Shape 16"/>
          <p:cNvSpPr/>
          <p:nvPr/>
        </p:nvSpPr>
        <p:spPr>
          <a:xfrm>
            <a:off x="4369817" y="2933700"/>
            <a:ext cx="63550" cy="63550"/>
          </a:xfrm>
          <a:prstGeom prst="rect">
            <a:avLst/>
          </a:prstGeom>
          <a:solidFill>
            <a:srgbClr val="CAD6DE"/>
          </a:solidFill>
          <a:ln/>
        </p:spPr>
      </p:sp>
      <p:sp>
        <p:nvSpPr>
          <p:cNvPr id="23" name="Text 17"/>
          <p:cNvSpPr/>
          <p:nvPr/>
        </p:nvSpPr>
        <p:spPr>
          <a:xfrm>
            <a:off x="4465141" y="2926556"/>
            <a:ext cx="386135" cy="77837"/>
          </a:xfrm>
          <a:prstGeom prst="rect">
            <a:avLst/>
          </a:prstGeom>
          <a:noFill/>
          <a:ln/>
        </p:spPr>
        <p:txBody>
          <a:bodyPr wrap="none" lIns="0" tIns="0" rIns="0" bIns="0" rtlCol="0" anchor="t"/>
          <a:lstStyle/>
          <a:p>
            <a:pPr algn="l" indent="0" marL="0">
              <a:lnSpc>
                <a:spcPct val="102000"/>
              </a:lnSpc>
              <a:buNone/>
            </a:pPr>
            <a:r>
              <a:rPr lang="en-US" sz="500" dirty="0">
                <a:solidFill>
                  <a:srgbClr val="CAD6DE"/>
                </a:solidFill>
                <a:latin typeface="Cabin" pitchFamily="34" charset="0"/>
                <a:ea typeface="Cabin" pitchFamily="34" charset="-122"/>
                <a:cs typeface="Cabin" pitchFamily="34" charset="-120"/>
              </a:rPr>
              <a:t>RESULTADOS</a:t>
            </a:r>
            <a:endParaRPr lang="en-US" sz="500" dirty="0"/>
          </a:p>
        </p:txBody>
      </p:sp>
      <p:sp>
        <p:nvSpPr>
          <p:cNvPr id="24" name="Text 18"/>
          <p:cNvSpPr/>
          <p:nvPr/>
        </p:nvSpPr>
        <p:spPr>
          <a:xfrm>
            <a:off x="4322192" y="3045023"/>
            <a:ext cx="1259904" cy="116904"/>
          </a:xfrm>
          <a:prstGeom prst="rect">
            <a:avLst/>
          </a:prstGeom>
          <a:noFill/>
          <a:ln/>
        </p:spPr>
        <p:txBody>
          <a:bodyPr wrap="none" lIns="0" tIns="0" rIns="0" bIns="0" rtlCol="0" anchor="t"/>
          <a:lstStyle/>
          <a:p>
            <a:pPr algn="l" indent="0" marL="0">
              <a:lnSpc>
                <a:spcPct val="104000"/>
              </a:lnSpc>
              <a:buNone/>
            </a:pPr>
            <a:r>
              <a:rPr lang="en-US" sz="700" dirty="0">
                <a:solidFill>
                  <a:srgbClr val="CAD6DE"/>
                </a:solidFill>
                <a:latin typeface="Unbounded" pitchFamily="34" charset="0"/>
                <a:ea typeface="Unbounded" pitchFamily="34" charset="-122"/>
                <a:cs typeface="Unbounded" pitchFamily="34" charset="-120"/>
              </a:rPr>
              <a:t>Resultados Esperados</a:t>
            </a:r>
            <a:endParaRPr lang="en-US" sz="700" dirty="0"/>
          </a:p>
        </p:txBody>
      </p:sp>
      <p:sp>
        <p:nvSpPr>
          <p:cNvPr id="25" name="Text 19"/>
          <p:cNvSpPr/>
          <p:nvPr/>
        </p:nvSpPr>
        <p:spPr>
          <a:xfrm>
            <a:off x="4322192" y="3187229"/>
            <a:ext cx="4209231" cy="97334"/>
          </a:xfrm>
          <a:prstGeom prst="rect">
            <a:avLst/>
          </a:prstGeom>
          <a:noFill/>
          <a:ln/>
        </p:spPr>
        <p:txBody>
          <a:bodyPr wrap="none" lIns="0" tIns="0" rIns="0" bIns="0" rtlCol="0" anchor="t"/>
          <a:lstStyle/>
          <a:p>
            <a:pPr algn="l" indent="0" marL="0">
              <a:lnSpc>
                <a:spcPct val="102000"/>
              </a:lnSpc>
              <a:buNone/>
            </a:pPr>
            <a:r>
              <a:rPr lang="en-US" sz="600" dirty="0">
                <a:solidFill>
                  <a:srgbClr val="CAD6DE"/>
                </a:solidFill>
                <a:latin typeface="Cabin" pitchFamily="34" charset="0"/>
                <a:ea typeface="Cabin" pitchFamily="34" charset="-122"/>
                <a:cs typeface="Cabin" pitchFamily="34" charset="-120"/>
              </a:rPr>
              <a:t>Los entregables concretos y los beneficios tangibles que el proyecto generará.</a:t>
            </a:r>
            <a:endParaRPr lang="en-US" sz="600" dirty="0"/>
          </a:p>
        </p:txBody>
      </p:sp>
      <p:sp>
        <p:nvSpPr>
          <p:cNvPr id="26" name="Text 20"/>
          <p:cNvSpPr/>
          <p:nvPr/>
        </p:nvSpPr>
        <p:spPr>
          <a:xfrm>
            <a:off x="4322192" y="3309863"/>
            <a:ext cx="4209231" cy="321469"/>
          </a:xfrm>
          <a:prstGeom prst="rect">
            <a:avLst/>
          </a:prstGeom>
          <a:noFill/>
          <a:ln/>
        </p:spPr>
        <p:txBody>
          <a:bodyPr wrap="square" lIns="0" tIns="0" rIns="0" bIns="0" rtlCol="0" anchor="t">
            <a:normAutofit/>
          </a:bodyPr>
          <a:lstStyle/>
          <a:p>
            <a:pPr algn="l" marL="121920" indent="-121920">
              <a:lnSpc>
                <a:spcPct val="102000"/>
              </a:lnSpc>
              <a:buSzPct val="100000"/>
              <a:buChar char="•"/>
            </a:pPr>
            <a:r>
              <a:rPr lang="en-US" sz="600" dirty="0">
                <a:solidFill>
                  <a:srgbClr val="CAD6DE"/>
                </a:solidFill>
                <a:latin typeface="Cabin" pitchFamily="34" charset="0"/>
                <a:ea typeface="Cabin" pitchFamily="34" charset="-122"/>
                <a:cs typeface="Cabin" pitchFamily="34" charset="-120"/>
              </a:rPr>
              <a:t>Proceso de flujo de trabajo optimizado documentado.</a:t>
            </a:r>
            <a:endParaRPr lang="en-US" sz="600" dirty="0"/>
          </a:p>
          <a:p>
            <a:pPr algn="l" marL="121920" indent="-121920">
              <a:lnSpc>
                <a:spcPct val="102000"/>
              </a:lnSpc>
              <a:buSzPct val="100000"/>
              <a:buChar char="•"/>
            </a:pPr>
            <a:r>
              <a:rPr lang="en-US" sz="600" dirty="0">
                <a:solidFill>
                  <a:srgbClr val="CAD6DE"/>
                </a:solidFill>
                <a:latin typeface="Cabin" pitchFamily="34" charset="0"/>
                <a:ea typeface="Cabin" pitchFamily="34" charset="-122"/>
                <a:cs typeface="Cabin" pitchFamily="34" charset="-120"/>
              </a:rPr>
              <a:t>Nuevo canal de distribución establecido.</a:t>
            </a:r>
            <a:endParaRPr lang="en-US" sz="600" dirty="0"/>
          </a:p>
          <a:p>
            <a:pPr algn="l" marL="121920" indent="-121920">
              <a:lnSpc>
                <a:spcPct val="102000"/>
              </a:lnSpc>
              <a:buSzPct val="100000"/>
              <a:buChar char="•"/>
            </a:pPr>
            <a:r>
              <a:rPr lang="en-US" sz="600" dirty="0">
                <a:solidFill>
                  <a:srgbClr val="CAD6DE"/>
                </a:solidFill>
                <a:latin typeface="Cabin" pitchFamily="34" charset="0"/>
                <a:ea typeface="Cabin" pitchFamily="34" charset="-122"/>
                <a:cs typeface="Cabin" pitchFamily="34" charset="-120"/>
              </a:rPr>
              <a:t>Mayor fidelidad de clientes y menor tasa de abandono.</a:t>
            </a:r>
            <a:endParaRPr lang="en-US" sz="600" dirty="0"/>
          </a:p>
        </p:txBody>
      </p:sp>
      <p:pic>
        <p:nvPicPr>
          <p:cNvPr id="27" name="Image 4" descr="preencoded.png">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3952577" y="3762524"/>
            <a:ext cx="4667845" cy="906587"/>
          </a:xfrm>
          <a:prstGeom prst="rect">
            <a:avLst/>
          </a:prstGeom>
        </p:spPr>
      </p:pic>
      <p:sp>
        <p:nvSpPr>
          <p:cNvPr id="28" name="Shape 21"/>
          <p:cNvSpPr/>
          <p:nvPr/>
        </p:nvSpPr>
        <p:spPr>
          <a:xfrm>
            <a:off x="4322192" y="3851523"/>
            <a:ext cx="360983" cy="125462"/>
          </a:xfrm>
          <a:prstGeom prst="roundRect">
            <a:avLst>
              <a:gd name="adj" fmla="val 7602"/>
            </a:avLst>
          </a:prstGeom>
          <a:solidFill>
            <a:srgbClr val="054842"/>
          </a:solidFill>
          <a:ln/>
        </p:spPr>
      </p:sp>
      <p:sp>
        <p:nvSpPr>
          <p:cNvPr id="29" name="Shape 22"/>
          <p:cNvSpPr/>
          <p:nvPr/>
        </p:nvSpPr>
        <p:spPr>
          <a:xfrm>
            <a:off x="4369817" y="3882479"/>
            <a:ext cx="63550" cy="63550"/>
          </a:xfrm>
          <a:prstGeom prst="rect">
            <a:avLst/>
          </a:prstGeom>
          <a:solidFill>
            <a:srgbClr val="CAD6DE"/>
          </a:solidFill>
          <a:ln/>
        </p:spPr>
      </p:sp>
      <p:sp>
        <p:nvSpPr>
          <p:cNvPr id="30" name="Text 23"/>
          <p:cNvSpPr/>
          <p:nvPr/>
        </p:nvSpPr>
        <p:spPr>
          <a:xfrm>
            <a:off x="4465141" y="3875336"/>
            <a:ext cx="170408" cy="77837"/>
          </a:xfrm>
          <a:prstGeom prst="rect">
            <a:avLst/>
          </a:prstGeom>
          <a:noFill/>
          <a:ln/>
        </p:spPr>
        <p:txBody>
          <a:bodyPr wrap="none" lIns="0" tIns="0" rIns="0" bIns="0" rtlCol="0" anchor="t"/>
          <a:lstStyle/>
          <a:p>
            <a:pPr algn="l" indent="0" marL="0">
              <a:lnSpc>
                <a:spcPct val="102000"/>
              </a:lnSpc>
              <a:buNone/>
            </a:pPr>
            <a:r>
              <a:rPr lang="en-US" sz="500" dirty="0">
                <a:solidFill>
                  <a:srgbClr val="CAD6DE"/>
                </a:solidFill>
                <a:latin typeface="Cabin" pitchFamily="34" charset="0"/>
                <a:ea typeface="Cabin" pitchFamily="34" charset="-122"/>
                <a:cs typeface="Cabin" pitchFamily="34" charset="-120"/>
              </a:rPr>
              <a:t>ÉXITO</a:t>
            </a:r>
            <a:endParaRPr lang="en-US" sz="500" dirty="0"/>
          </a:p>
        </p:txBody>
      </p:sp>
      <p:sp>
        <p:nvSpPr>
          <p:cNvPr id="31" name="Text 24"/>
          <p:cNvSpPr/>
          <p:nvPr/>
        </p:nvSpPr>
        <p:spPr>
          <a:xfrm>
            <a:off x="4322192" y="3993803"/>
            <a:ext cx="972517" cy="116904"/>
          </a:xfrm>
          <a:prstGeom prst="rect">
            <a:avLst/>
          </a:prstGeom>
          <a:noFill/>
          <a:ln/>
        </p:spPr>
        <p:txBody>
          <a:bodyPr wrap="none" lIns="0" tIns="0" rIns="0" bIns="0" rtlCol="0" anchor="t"/>
          <a:lstStyle/>
          <a:p>
            <a:pPr algn="l" indent="0" marL="0">
              <a:lnSpc>
                <a:spcPct val="104000"/>
              </a:lnSpc>
              <a:buNone/>
            </a:pPr>
            <a:r>
              <a:rPr lang="en-US" sz="700" dirty="0">
                <a:solidFill>
                  <a:srgbClr val="CAD6DE"/>
                </a:solidFill>
                <a:latin typeface="Unbounded" pitchFamily="34" charset="0"/>
                <a:ea typeface="Unbounded" pitchFamily="34" charset="-122"/>
                <a:cs typeface="Unbounded" pitchFamily="34" charset="-120"/>
              </a:rPr>
              <a:t>Métricas de Éxito</a:t>
            </a:r>
            <a:endParaRPr lang="en-US" sz="700" dirty="0"/>
          </a:p>
        </p:txBody>
      </p:sp>
      <p:sp>
        <p:nvSpPr>
          <p:cNvPr id="32" name="Text 25"/>
          <p:cNvSpPr/>
          <p:nvPr/>
        </p:nvSpPr>
        <p:spPr>
          <a:xfrm>
            <a:off x="4322192" y="4136008"/>
            <a:ext cx="4209231" cy="97334"/>
          </a:xfrm>
          <a:prstGeom prst="rect">
            <a:avLst/>
          </a:prstGeom>
          <a:noFill/>
          <a:ln/>
        </p:spPr>
        <p:txBody>
          <a:bodyPr wrap="none" lIns="0" tIns="0" rIns="0" bIns="0" rtlCol="0" anchor="t"/>
          <a:lstStyle/>
          <a:p>
            <a:pPr algn="l" indent="0" marL="0">
              <a:lnSpc>
                <a:spcPct val="102000"/>
              </a:lnSpc>
              <a:buNone/>
            </a:pPr>
            <a:r>
              <a:rPr lang="en-US" sz="600" dirty="0">
                <a:solidFill>
                  <a:srgbClr val="CAD6DE"/>
                </a:solidFill>
                <a:latin typeface="Cabin" pitchFamily="34" charset="0"/>
                <a:ea typeface="Cabin" pitchFamily="34" charset="-122"/>
                <a:cs typeface="Cabin" pitchFamily="34" charset="-120"/>
              </a:rPr>
              <a:t>Indicadores clave de rendimiento (KPIs) para medir el progreso y el logro de los objetivos.</a:t>
            </a:r>
            <a:endParaRPr lang="en-US" sz="600" dirty="0"/>
          </a:p>
        </p:txBody>
      </p:sp>
      <p:sp>
        <p:nvSpPr>
          <p:cNvPr id="33" name="Text 26"/>
          <p:cNvSpPr/>
          <p:nvPr/>
        </p:nvSpPr>
        <p:spPr>
          <a:xfrm>
            <a:off x="4322192" y="4258642"/>
            <a:ext cx="4209231" cy="321469"/>
          </a:xfrm>
          <a:prstGeom prst="rect">
            <a:avLst/>
          </a:prstGeom>
          <a:noFill/>
          <a:ln/>
        </p:spPr>
        <p:txBody>
          <a:bodyPr wrap="square" lIns="0" tIns="0" rIns="0" bIns="0" rtlCol="0" anchor="t">
            <a:normAutofit/>
          </a:bodyPr>
          <a:lstStyle/>
          <a:p>
            <a:pPr algn="l" marL="121920" indent="-121920">
              <a:lnSpc>
                <a:spcPct val="102000"/>
              </a:lnSpc>
              <a:buSzPct val="100000"/>
              <a:buChar char="•"/>
            </a:pPr>
            <a:r>
              <a:rPr lang="en-US" sz="600" dirty="0">
                <a:solidFill>
                  <a:srgbClr val="CAD6DE"/>
                </a:solidFill>
                <a:latin typeface="Cabin" pitchFamily="34" charset="0"/>
                <a:ea typeface="Cabin" pitchFamily="34" charset="-122"/>
                <a:cs typeface="Cabin" pitchFamily="34" charset="-120"/>
              </a:rPr>
              <a:t>Reducción del costo por unidad en un 10%.</a:t>
            </a:r>
            <a:endParaRPr lang="en-US" sz="600" dirty="0"/>
          </a:p>
          <a:p>
            <a:pPr algn="l" marL="121920" indent="-121920">
              <a:lnSpc>
                <a:spcPct val="102000"/>
              </a:lnSpc>
              <a:buSzPct val="100000"/>
              <a:buChar char="•"/>
            </a:pPr>
            <a:r>
              <a:rPr lang="en-US" sz="600" dirty="0">
                <a:solidFill>
                  <a:srgbClr val="CAD6DE"/>
                </a:solidFill>
                <a:latin typeface="Cabin" pitchFamily="34" charset="0"/>
                <a:ea typeface="Cabin" pitchFamily="34" charset="-122"/>
                <a:cs typeface="Cabin" pitchFamily="34" charset="-120"/>
              </a:rPr>
              <a:t>Crecimiento de ingresos del 25% en nuevos mercados.</a:t>
            </a:r>
            <a:endParaRPr lang="en-US" sz="600" dirty="0"/>
          </a:p>
          <a:p>
            <a:pPr algn="l" marL="121920" indent="-121920">
              <a:lnSpc>
                <a:spcPct val="102000"/>
              </a:lnSpc>
              <a:buSzPct val="100000"/>
              <a:buChar char="•"/>
            </a:pPr>
            <a:r>
              <a:rPr lang="en-US" sz="600" dirty="0">
                <a:solidFill>
                  <a:srgbClr val="CAD6DE"/>
                </a:solidFill>
                <a:latin typeface="Cabin" pitchFamily="34" charset="0"/>
                <a:ea typeface="Cabin" pitchFamily="34" charset="-122"/>
                <a:cs typeface="Cabin" pitchFamily="34" charset="-120"/>
              </a:rPr>
              <a:t>Tasa de retención de clientes superior al 90%.</a:t>
            </a:r>
            <a:endParaRPr lang="en-US" sz="6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523577" y="411435"/>
            <a:ext cx="3035796" cy="219968"/>
          </a:xfrm>
          <a:prstGeom prst="rect">
            <a:avLst/>
          </a:prstGeom>
          <a:noFill/>
          <a:ln/>
        </p:spPr>
        <p:txBody>
          <a:bodyPr wrap="none" lIns="0" tIns="0" rIns="0" bIns="0" rtlCol="0" anchor="t"/>
          <a:lstStyle/>
          <a:p>
            <a:pPr algn="l" indent="0" marL="0">
              <a:lnSpc>
                <a:spcPct val="104000"/>
              </a:lnSpc>
              <a:buNone/>
            </a:pPr>
            <a:r>
              <a:rPr lang="en-US" sz="1350" dirty="0">
                <a:solidFill>
                  <a:srgbClr val="FFFFFF"/>
                </a:solidFill>
                <a:latin typeface="Unbounded" pitchFamily="34" charset="0"/>
                <a:ea typeface="Unbounded" pitchFamily="34" charset="-122"/>
                <a:cs typeface="Unbounded" pitchFamily="34" charset="-120"/>
              </a:rPr>
              <a:t>Arquitectura de Negocio</a:t>
            </a:r>
            <a:endParaRPr lang="en-US" sz="1350" dirty="0"/>
          </a:p>
        </p:txBody>
      </p:sp>
      <p:pic>
        <p:nvPicPr>
          <p:cNvPr id="3" name="Image 0" descr="preencoded.png">    </p:cNvPr>
          <p:cNvPicPr>
            <a:picLocks noChangeAspect="1"/>
          </p:cNvPicPr>
          <p:nvPr/>
        </p:nvPicPr>
        <p:blipFill>
          <a:blip r:embed="rId1"/>
          <a:stretch>
            <a:fillRect/>
          </a:stretch>
        </p:blipFill>
        <p:spPr>
          <a:xfrm>
            <a:off x="523577" y="706189"/>
            <a:ext cx="7315200" cy="4876800"/>
          </a:xfrm>
          <a:prstGeom prst="rect">
            <a:avLst/>
          </a:prstGeom>
        </p:spPr>
      </p:pic>
      <p:sp>
        <p:nvSpPr>
          <p:cNvPr id="4" name="Text 1"/>
          <p:cNvSpPr/>
          <p:nvPr/>
        </p:nvSpPr>
        <p:spPr>
          <a:xfrm>
            <a:off x="523577" y="5625033"/>
            <a:ext cx="8096845" cy="179487"/>
          </a:xfrm>
          <a:prstGeom prst="rect">
            <a:avLst/>
          </a:prstGeom>
          <a:noFill/>
          <a:ln/>
        </p:spPr>
        <p:txBody>
          <a:bodyPr wrap="square" lIns="0" tIns="0" rIns="0" bIns="0" rtlCol="0" anchor="t">
            <a:normAutofit/>
          </a:bodyPr>
          <a:lstStyle/>
          <a:p>
            <a:pPr algn="l" indent="0" marL="0">
              <a:lnSpc>
                <a:spcPct val="100000"/>
              </a:lnSpc>
              <a:buNone/>
            </a:pPr>
            <a:r>
              <a:rPr lang="en-US" sz="550" dirty="0">
                <a:solidFill>
                  <a:srgbClr val="CAD6DE"/>
                </a:solidFill>
                <a:latin typeface="Cabin" pitchFamily="34" charset="0"/>
                <a:ea typeface="Cabin" pitchFamily="34" charset="-122"/>
                <a:cs typeface="Cabin" pitchFamily="34" charset="-120"/>
              </a:rPr>
              <a:t>Esta arquitectura de negocio presenta de forma clara los componentes, relaciones y flujos clave que sostienen la operación de ProtonLab. Permite entender cómo se conectan las capacidades del negocio para impulsar una gestión más alineada, eficiente y escalable.</a:t>
            </a:r>
            <a:endParaRPr lang="en-US" sz="5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523577" y="411435"/>
            <a:ext cx="3299147" cy="219968"/>
          </a:xfrm>
          <a:prstGeom prst="rect">
            <a:avLst/>
          </a:prstGeom>
          <a:noFill/>
          <a:ln/>
        </p:spPr>
        <p:txBody>
          <a:bodyPr wrap="none" lIns="0" tIns="0" rIns="0" bIns="0" rtlCol="0" anchor="t"/>
          <a:lstStyle/>
          <a:p>
            <a:pPr algn="l" indent="0" marL="0">
              <a:lnSpc>
                <a:spcPct val="104000"/>
              </a:lnSpc>
              <a:buNone/>
            </a:pPr>
            <a:r>
              <a:rPr lang="en-US" sz="1350" dirty="0">
                <a:solidFill>
                  <a:srgbClr val="FFFFFF"/>
                </a:solidFill>
                <a:latin typeface="Unbounded" pitchFamily="34" charset="0"/>
                <a:ea typeface="Unbounded" pitchFamily="34" charset="-122"/>
                <a:cs typeface="Unbounded" pitchFamily="34" charset="-120"/>
              </a:rPr>
              <a:t>Diagrama de Casos de Uso</a:t>
            </a:r>
            <a:endParaRPr lang="en-US" sz="1350" dirty="0"/>
          </a:p>
        </p:txBody>
      </p:sp>
      <p:sp>
        <p:nvSpPr>
          <p:cNvPr id="3" name="Text 1"/>
          <p:cNvSpPr/>
          <p:nvPr/>
        </p:nvSpPr>
        <p:spPr>
          <a:xfrm>
            <a:off x="523577" y="706189"/>
            <a:ext cx="8096845" cy="179487"/>
          </a:xfrm>
          <a:prstGeom prst="rect">
            <a:avLst/>
          </a:prstGeom>
          <a:noFill/>
          <a:ln/>
        </p:spPr>
        <p:txBody>
          <a:bodyPr wrap="square" lIns="0" tIns="0" rIns="0" bIns="0" rtlCol="0" anchor="t">
            <a:normAutofit/>
          </a:bodyPr>
          <a:lstStyle/>
          <a:p>
            <a:pPr algn="l" indent="0" marL="0">
              <a:lnSpc>
                <a:spcPct val="100000"/>
              </a:lnSpc>
              <a:buNone/>
            </a:pPr>
            <a:r>
              <a:rPr lang="en-US" sz="550" dirty="0">
                <a:solidFill>
                  <a:srgbClr val="CAD6DE"/>
                </a:solidFill>
                <a:latin typeface="Cabin" pitchFamily="34" charset="0"/>
                <a:ea typeface="Cabin" pitchFamily="34" charset="-122"/>
                <a:cs typeface="Cabin" pitchFamily="34" charset="-120"/>
              </a:rPr>
              <a:t>Este diagrama muestra los principales actores que interactúan con el sistema ProtonLab: Cliente B2B, Vendedor, Administrador y Soporte. A través de sus casos de uso específicos, se visualiza cómo cada rol se relaciona con la plataforma para gestionar operaciones, consultas, administración y atención al cliente.</a:t>
            </a:r>
            <a:endParaRPr lang="en-US" sz="550" dirty="0"/>
          </a:p>
        </p:txBody>
      </p:sp>
      <p:pic>
        <p:nvPicPr>
          <p:cNvPr id="4" name="Image 0" descr="preencoded.png">    </p:cNvPr>
          <p:cNvPicPr>
            <a:picLocks noChangeAspect="1"/>
          </p:cNvPicPr>
          <p:nvPr/>
        </p:nvPicPr>
        <p:blipFill>
          <a:blip r:embed="rId1"/>
          <a:stretch>
            <a:fillRect/>
          </a:stretch>
        </p:blipFill>
        <p:spPr>
          <a:xfrm>
            <a:off x="523577" y="927720"/>
            <a:ext cx="7315200" cy="487680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3132088" y="411435"/>
            <a:ext cx="2879750" cy="219968"/>
          </a:xfrm>
          <a:prstGeom prst="rect">
            <a:avLst/>
          </a:prstGeom>
          <a:noFill/>
          <a:ln/>
        </p:spPr>
        <p:txBody>
          <a:bodyPr wrap="none" lIns="0" tIns="0" rIns="0" bIns="0" rtlCol="0" anchor="t"/>
          <a:lstStyle/>
          <a:p>
            <a:pPr algn="ctr" indent="0" marL="0">
              <a:lnSpc>
                <a:spcPct val="104000"/>
              </a:lnSpc>
              <a:buNone/>
            </a:pPr>
            <a:r>
              <a:rPr lang="en-US" sz="1350" dirty="0">
                <a:solidFill>
                  <a:srgbClr val="FFFFFF"/>
                </a:solidFill>
                <a:latin typeface="Unbounded" pitchFamily="34" charset="0"/>
                <a:ea typeface="Unbounded" pitchFamily="34" charset="-122"/>
                <a:cs typeface="Unbounded" pitchFamily="34" charset="-120"/>
              </a:rPr>
              <a:t>Resultados de Pruebas</a:t>
            </a:r>
            <a:endParaRPr lang="en-US" sz="1350" dirty="0"/>
          </a:p>
        </p:txBody>
      </p:sp>
      <p:sp>
        <p:nvSpPr>
          <p:cNvPr id="3" name="Text 1"/>
          <p:cNvSpPr/>
          <p:nvPr/>
        </p:nvSpPr>
        <p:spPr>
          <a:xfrm>
            <a:off x="523577" y="706189"/>
            <a:ext cx="8554045" cy="89743"/>
          </a:xfrm>
          <a:prstGeom prst="rect">
            <a:avLst/>
          </a:prstGeom>
          <a:noFill/>
          <a:ln/>
        </p:spPr>
        <p:txBody>
          <a:bodyPr wrap="none" lIns="0" tIns="0" rIns="0" bIns="0" rtlCol="0" anchor="t"/>
          <a:lstStyle/>
          <a:p>
            <a:pPr algn="l" indent="0" marL="0">
              <a:lnSpc>
                <a:spcPct val="100000"/>
              </a:lnSpc>
              <a:buNone/>
            </a:pPr>
            <a:r>
              <a:rPr lang="en-US" sz="550" dirty="0">
                <a:solidFill>
                  <a:srgbClr val="CAD6DE"/>
                </a:solidFill>
                <a:latin typeface="Cabin" pitchFamily="34" charset="0"/>
                <a:ea typeface="Cabin" pitchFamily="34" charset="-122"/>
                <a:cs typeface="Cabin" pitchFamily="34" charset="-120"/>
              </a:rPr>
              <a:t>       Presentamos el estado actual de nuestras pruebas de software, categorizadas por su resultado.       La siguiente gráfica detalla el porcentaje de pruebas satisfactorias, no satisfactorias y pendientes.     </a:t>
            </a:r>
            <a:endParaRPr lang="en-US" sz="550" dirty="0"/>
          </a:p>
        </p:txBody>
      </p:sp>
      <p:pic>
        <p:nvPicPr>
          <p:cNvPr id="4" name="Image 0" descr="preencoded.png">    </p:cNvPr>
          <p:cNvPicPr>
            <a:picLocks noChangeAspect="1"/>
          </p:cNvPicPr>
          <p:nvPr/>
        </p:nvPicPr>
        <p:blipFill>
          <a:blip r:embed="rId1"/>
          <a:stretch>
            <a:fillRect/>
          </a:stretch>
        </p:blipFill>
        <p:spPr>
          <a:xfrm>
            <a:off x="523577" y="837977"/>
            <a:ext cx="8096845" cy="4534198"/>
          </a:xfrm>
          <a:prstGeom prst="rect">
            <a:avLst/>
          </a:prstGeom>
        </p:spPr>
      </p:pic>
      <p:sp>
        <p:nvSpPr>
          <p:cNvPr id="5" name="Text 2"/>
          <p:cNvSpPr/>
          <p:nvPr/>
        </p:nvSpPr>
        <p:spPr>
          <a:xfrm>
            <a:off x="523577" y="5414218"/>
            <a:ext cx="8096845" cy="179487"/>
          </a:xfrm>
          <a:prstGeom prst="rect">
            <a:avLst/>
          </a:prstGeom>
          <a:noFill/>
          <a:ln/>
        </p:spPr>
        <p:txBody>
          <a:bodyPr wrap="square" lIns="0" tIns="0" rIns="0" bIns="0" rtlCol="0" anchor="t">
            <a:normAutofit/>
          </a:bodyPr>
          <a:lstStyle/>
          <a:p>
            <a:pPr algn="l" indent="0" marL="0">
              <a:lnSpc>
                <a:spcPct val="100000"/>
              </a:lnSpc>
              <a:buNone/>
            </a:pPr>
            <a:r>
              <a:rPr lang="en-US" sz="550" dirty="0">
                <a:solidFill>
                  <a:srgbClr val="CAD6DE"/>
                </a:solidFill>
                <a:latin typeface="Cabin" pitchFamily="34" charset="0"/>
                <a:ea typeface="Cabin" pitchFamily="34" charset="-122"/>
                <a:cs typeface="Cabin" pitchFamily="34" charset="-120"/>
              </a:rPr>
              <a:t>       Un contundente </a:t>
            </a:r>
            <a:pPr algn="l" indent="0" marL="0">
              <a:lnSpc>
                <a:spcPct val="100000"/>
              </a:lnSpc>
              <a:buNone/>
            </a:pPr>
            <a:r>
              <a:rPr lang="en-US" sz="550" dirty="0">
                <a:solidFill>
                  <a:srgbClr val="00A86B"/>
                </a:solidFill>
                <a:latin typeface="Cabin" pitchFamily="34" charset="0"/>
                <a:ea typeface="Cabin" pitchFamily="34" charset="-122"/>
                <a:cs typeface="Cabin" pitchFamily="34" charset="-120"/>
              </a:rPr>
              <a:t>85% de las pruebas fueron exitosas</a:t>
            </a:r>
            <a:pPr algn="l" indent="0" marL="0">
              <a:lnSpc>
                <a:spcPct val="100000"/>
              </a:lnSpc>
              <a:buNone/>
            </a:pPr>
            <a:r>
              <a:rPr lang="en-US" sz="550" dirty="0">
                <a:solidFill>
                  <a:srgbClr val="CAD6DE"/>
                </a:solidFill>
                <a:latin typeface="Cabin" pitchFamily="34" charset="0"/>
                <a:ea typeface="Cabin" pitchFamily="34" charset="-122"/>
                <a:cs typeface="Cabin" pitchFamily="34" charset="-120"/>
              </a:rPr>
              <a:t>, demostrando la estabilidad de nuestro sistema.       Solo un </a:t>
            </a:r>
            <a:pPr algn="l" indent="0" marL="0">
              <a:lnSpc>
                <a:spcPct val="100000"/>
              </a:lnSpc>
              <a:buNone/>
            </a:pPr>
            <a:r>
              <a:rPr lang="en-US" sz="550" dirty="0">
                <a:solidFill>
                  <a:srgbClr val="FF5733"/>
                </a:solidFill>
                <a:latin typeface="Cabin" pitchFamily="34" charset="0"/>
                <a:ea typeface="Cabin" pitchFamily="34" charset="-122"/>
                <a:cs typeface="Cabin" pitchFamily="34" charset="-120"/>
              </a:rPr>
              <a:t>10% de las pruebas identificaron problemas</a:t>
            </a:r>
            <a:pPr algn="l" indent="0" marL="0">
              <a:lnSpc>
                <a:spcPct val="100000"/>
              </a:lnSpc>
              <a:buNone/>
            </a:pPr>
            <a:r>
              <a:rPr lang="en-US" sz="550" dirty="0">
                <a:solidFill>
                  <a:srgbClr val="CAD6DE"/>
                </a:solidFill>
                <a:latin typeface="Cabin" pitchFamily="34" charset="0"/>
                <a:ea typeface="Cabin" pitchFamily="34" charset="-122"/>
                <a:cs typeface="Cabin" pitchFamily="34" charset="-120"/>
              </a:rPr>
              <a:t> que requieren nuestra atención inmediata, mientras que un pequeño </a:t>
            </a:r>
            <a:pPr algn="l" indent="0" marL="0">
              <a:lnSpc>
                <a:spcPct val="100000"/>
              </a:lnSpc>
              <a:buNone/>
            </a:pPr>
            <a:r>
              <a:rPr lang="en-US" sz="550" dirty="0">
                <a:solidFill>
                  <a:srgbClr val="FFC300"/>
                </a:solidFill>
                <a:latin typeface="Cabin" pitchFamily="34" charset="0"/>
                <a:ea typeface="Cabin" pitchFamily="34" charset="-122"/>
                <a:cs typeface="Cabin" pitchFamily="34" charset="-120"/>
              </a:rPr>
              <a:t>5% está aún pendiente</a:t>
            </a:r>
            <a:pPr algn="l" indent="0" marL="0">
              <a:lnSpc>
                <a:spcPct val="100000"/>
              </a:lnSpc>
              <a:buNone/>
            </a:pPr>
            <a:r>
              <a:rPr lang="en-US" sz="550" dirty="0">
                <a:solidFill>
                  <a:srgbClr val="CAD6DE"/>
                </a:solidFill>
                <a:latin typeface="Cabin" pitchFamily="34" charset="0"/>
                <a:ea typeface="Cabin" pitchFamily="34" charset="-122"/>
                <a:cs typeface="Cabin" pitchFamily="34" charset="-120"/>
              </a:rPr>
              <a:t> de ejecución.       Actualmente, nuestro conjunto de pruebas incluye 12 pruebas de </a:t>
            </a:r>
            <a:pPr algn="l" indent="0" marL="0">
              <a:lnSpc>
                <a:spcPct val="100000"/>
              </a:lnSpc>
              <a:buNone/>
            </a:pPr>
            <a:r>
              <a:rPr lang="en-US" sz="550" b="1" dirty="0">
                <a:solidFill>
                  <a:srgbClr val="CAD6DE"/>
                </a:solidFill>
                <a:latin typeface="Cabin Bold" pitchFamily="34" charset="0"/>
                <a:ea typeface="Cabin Bold" pitchFamily="34" charset="-122"/>
                <a:cs typeface="Cabin Bold" pitchFamily="34" charset="-120"/>
              </a:rPr>
              <a:t>frontend</a:t>
            </a:r>
            <a:pPr algn="l" indent="0" marL="0">
              <a:lnSpc>
                <a:spcPct val="100000"/>
              </a:lnSpc>
              <a:buNone/>
            </a:pPr>
            <a:r>
              <a:rPr lang="en-US" sz="550" dirty="0">
                <a:solidFill>
                  <a:srgbClr val="CAD6DE"/>
                </a:solidFill>
                <a:latin typeface="Cabin" pitchFamily="34" charset="0"/>
                <a:ea typeface="Cabin" pitchFamily="34" charset="-122"/>
                <a:cs typeface="Cabin" pitchFamily="34" charset="-120"/>
              </a:rPr>
              <a:t>, 76 pruebas de </a:t>
            </a:r>
            <a:pPr algn="l" indent="0" marL="0">
              <a:lnSpc>
                <a:spcPct val="100000"/>
              </a:lnSpc>
              <a:buNone/>
            </a:pPr>
            <a:r>
              <a:rPr lang="en-US" sz="550" b="1" dirty="0">
                <a:solidFill>
                  <a:srgbClr val="CAD6DE"/>
                </a:solidFill>
                <a:latin typeface="Cabin Bold" pitchFamily="34" charset="0"/>
                <a:ea typeface="Cabin Bold" pitchFamily="34" charset="-122"/>
                <a:cs typeface="Cabin Bold" pitchFamily="34" charset="-120"/>
              </a:rPr>
              <a:t>backend</a:t>
            </a:r>
            <a:pPr algn="l" indent="0" marL="0">
              <a:lnSpc>
                <a:spcPct val="100000"/>
              </a:lnSpc>
              <a:buNone/>
            </a:pPr>
            <a:r>
              <a:rPr lang="en-US" sz="550" dirty="0">
                <a:solidFill>
                  <a:srgbClr val="CAD6DE"/>
                </a:solidFill>
                <a:latin typeface="Cabin" pitchFamily="34" charset="0"/>
                <a:ea typeface="Cabin" pitchFamily="34" charset="-122"/>
                <a:cs typeface="Cabin" pitchFamily="34" charset="-120"/>
              </a:rPr>
              <a:t> y 3 </a:t>
            </a:r>
            <a:pPr algn="l" indent="0" marL="0">
              <a:lnSpc>
                <a:spcPct val="100000"/>
              </a:lnSpc>
              <a:buNone/>
            </a:pPr>
            <a:r>
              <a:rPr lang="en-US" sz="550" b="1" dirty="0">
                <a:solidFill>
                  <a:srgbClr val="CAD6DE"/>
                </a:solidFill>
                <a:latin typeface="Cabin Bold" pitchFamily="34" charset="0"/>
                <a:ea typeface="Cabin Bold" pitchFamily="34" charset="-122"/>
                <a:cs typeface="Cabin Bold" pitchFamily="34" charset="-120"/>
              </a:rPr>
              <a:t>smoke tests</a:t>
            </a:r>
            <a:pPr algn="l" indent="0" marL="0">
              <a:lnSpc>
                <a:spcPct val="100000"/>
              </a:lnSpc>
              <a:buNone/>
            </a:pPr>
            <a:r>
              <a:rPr lang="en-US" sz="550" dirty="0">
                <a:solidFill>
                  <a:srgbClr val="CAD6DE"/>
                </a:solidFill>
                <a:latin typeface="Cabin" pitchFamily="34" charset="0"/>
                <a:ea typeface="Cabin" pitchFamily="34" charset="-122"/>
                <a:cs typeface="Cabin" pitchFamily="34" charset="-120"/>
              </a:rPr>
              <a:t> críticos.     </a:t>
            </a:r>
            <a:endParaRPr lang="en-US" sz="5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850702" y="578197"/>
            <a:ext cx="7442597" cy="440010"/>
          </a:xfrm>
          <a:prstGeom prst="rect">
            <a:avLst/>
          </a:prstGeom>
          <a:noFill/>
          <a:ln/>
        </p:spPr>
        <p:txBody>
          <a:bodyPr wrap="none" lIns="0" tIns="0" rIns="0" bIns="0" rtlCol="0" anchor="t"/>
          <a:lstStyle/>
          <a:p>
            <a:pPr algn="ctr" indent="0" marL="0">
              <a:lnSpc>
                <a:spcPct val="104000"/>
              </a:lnSpc>
              <a:buNone/>
            </a:pPr>
            <a:r>
              <a:rPr lang="en-US" sz="2750" dirty="0">
                <a:solidFill>
                  <a:srgbClr val="FFFFFF"/>
                </a:solidFill>
                <a:latin typeface="Unbounded" pitchFamily="34" charset="0"/>
                <a:ea typeface="Unbounded" pitchFamily="34" charset="-122"/>
                <a:cs typeface="Unbounded" pitchFamily="34" charset="-120"/>
              </a:rPr>
              <a:t>Sección de Demostración en Vivo</a:t>
            </a:r>
            <a:endParaRPr lang="en-US" sz="2750" dirty="0"/>
          </a:p>
        </p:txBody>
      </p:sp>
      <p:sp>
        <p:nvSpPr>
          <p:cNvPr id="3" name="Text 1"/>
          <p:cNvSpPr/>
          <p:nvPr/>
        </p:nvSpPr>
        <p:spPr>
          <a:xfrm>
            <a:off x="523577" y="1317427"/>
            <a:ext cx="8096845" cy="478780"/>
          </a:xfrm>
          <a:prstGeom prst="rect">
            <a:avLst/>
          </a:prstGeom>
          <a:noFill/>
          <a:ln/>
        </p:spPr>
        <p:txBody>
          <a:bodyPr wrap="square" lIns="0" tIns="0" rIns="0" bIns="0" rtlCol="0" anchor="t">
            <a:normAutofit/>
          </a:bodyPr>
          <a:lstStyle/>
          <a:p>
            <a:pPr algn="ctr" indent="0" marL="0">
              <a:lnSpc>
                <a:spcPct val="133000"/>
              </a:lnSpc>
              <a:buNone/>
            </a:pPr>
            <a:r>
              <a:rPr lang="en-US" sz="1150" dirty="0">
                <a:solidFill>
                  <a:srgbClr val="CAD6DE"/>
                </a:solidFill>
                <a:latin typeface="Cabin" pitchFamily="34" charset="0"/>
                <a:ea typeface="Cabin" pitchFamily="34" charset="-122"/>
                <a:cs typeface="Cabin" pitchFamily="34" charset="-120"/>
              </a:rPr>
              <a:t>Prepárese para explorar nuestro sistema en acción. Aquí encontrará una guía sobre cómo acceder, qué funcionalidades demostraremos y los aspectos más importantes a tener en cuenta.</a:t>
            </a:r>
            <a:endParaRPr lang="en-US" sz="1150" dirty="0"/>
          </a:p>
        </p:txBody>
      </p:sp>
      <p:sp>
        <p:nvSpPr>
          <p:cNvPr id="4" name="Shape 2"/>
          <p:cNvSpPr/>
          <p:nvPr/>
        </p:nvSpPr>
        <p:spPr>
          <a:xfrm>
            <a:off x="523577" y="1964457"/>
            <a:ext cx="336575" cy="336575"/>
          </a:xfrm>
          <a:prstGeom prst="roundRect">
            <a:avLst>
              <a:gd name="adj" fmla="val 6668"/>
            </a:avLst>
          </a:prstGeom>
          <a:solidFill>
            <a:srgbClr val="304755"/>
          </a:solidFill>
          <a:ln/>
        </p:spPr>
      </p:sp>
      <p:pic>
        <p:nvPicPr>
          <p:cNvPr id="5"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586234" y="2027113"/>
            <a:ext cx="211187" cy="211187"/>
          </a:xfrm>
          <a:prstGeom prst="rect">
            <a:avLst/>
          </a:prstGeom>
        </p:spPr>
      </p:pic>
      <p:sp>
        <p:nvSpPr>
          <p:cNvPr id="6" name="Text 3"/>
          <p:cNvSpPr/>
          <p:nvPr/>
        </p:nvSpPr>
        <p:spPr>
          <a:xfrm>
            <a:off x="1009724" y="2015877"/>
            <a:ext cx="2088133" cy="439936"/>
          </a:xfrm>
          <a:prstGeom prst="rect">
            <a:avLst/>
          </a:prstGeom>
          <a:noFill/>
          <a:ln/>
        </p:spPr>
        <p:txBody>
          <a:bodyPr wrap="square" lIns="0" tIns="0" rIns="0" bIns="0" rtlCol="0" anchor="t">
            <a:normAutofit/>
          </a:bodyPr>
          <a:lstStyle/>
          <a:p>
            <a:pPr algn="l" indent="0" marL="0">
              <a:lnSpc>
                <a:spcPct val="104000"/>
              </a:lnSpc>
              <a:buNone/>
            </a:pPr>
            <a:r>
              <a:rPr lang="en-US" sz="1350" dirty="0">
                <a:solidFill>
                  <a:srgbClr val="CAD6DE"/>
                </a:solidFill>
                <a:latin typeface="Unbounded" pitchFamily="34" charset="0"/>
                <a:ea typeface="Unbounded" pitchFamily="34" charset="-122"/>
                <a:cs typeface="Unbounded" pitchFamily="34" charset="-120"/>
              </a:rPr>
              <a:t>Instrucciones de Acceso</a:t>
            </a:r>
            <a:endParaRPr lang="en-US" sz="1350" dirty="0"/>
          </a:p>
        </p:txBody>
      </p:sp>
      <p:sp>
        <p:nvSpPr>
          <p:cNvPr id="7" name="Text 4"/>
          <p:cNvSpPr/>
          <p:nvPr/>
        </p:nvSpPr>
        <p:spPr>
          <a:xfrm>
            <a:off x="1009724" y="2545556"/>
            <a:ext cx="2088133" cy="2019746"/>
          </a:xfrm>
          <a:prstGeom prst="rect">
            <a:avLst/>
          </a:prstGeom>
          <a:noFill/>
          <a:ln/>
        </p:spPr>
        <p:txBody>
          <a:bodyPr wrap="square" lIns="0" tIns="0" rIns="0" bIns="0" rtlCol="0" anchor="t">
            <a:normAutofit/>
          </a:bodyPr>
          <a:lstStyle/>
          <a:p>
            <a:pPr algn="l" marL="233680" indent="-233680">
              <a:lnSpc>
                <a:spcPct val="133000"/>
              </a:lnSpc>
              <a:buSzPct val="100000"/>
              <a:buChar char="•"/>
            </a:pPr>
            <a:r>
              <a:rPr lang="en-US" sz="1150" dirty="0">
                <a:solidFill>
                  <a:srgbClr val="CAD6DE"/>
                </a:solidFill>
                <a:latin typeface="Cabin" pitchFamily="34" charset="0"/>
                <a:ea typeface="Cabin" pitchFamily="34" charset="-122"/>
                <a:cs typeface="Cabin" pitchFamily="34" charset="-120"/>
              </a:rPr>
              <a:t>URL de Acceso: </a:t>
            </a:r>
            <a:pPr algn="l" marL="233680" indent="-233680">
              <a:lnSpc>
                <a:spcPct val="133000"/>
              </a:lnSpc>
              <a:buSzPct val="100000"/>
              <a:buChar char="•"/>
            </a:pPr>
            <a:r>
              <a:rPr lang="en-US" sz="1150" b="1" u="sng" dirty="0">
                <a:solidFill>
                  <a:srgbClr val="0A988B"/>
                </a:solidFill>
                <a:latin typeface="Cabin Bold" pitchFamily="34" charset="0"/>
                <a:ea typeface="Cabin Bold" pitchFamily="34" charset="-122"/>
                <a:cs typeface="Cabin Bold" pitchFamily="34" charset="-120"/>
                <a:hlinkClick r:id="rId3" invalidUrl="" action="" tgtFrame="" tooltip="" history="1" highlightClick="0" endSnd="0">
                  <a:extLst>
                    <a:ext uri="{A12FA001-AC4F-418D-AE19-62706E023703}">
                      <ahyp:hlinkClr xmlns:ahyp="http://schemas.microsoft.com/office/drawing/2018/hyperlinkcolor" val="tx"/>
                    </a:ext>
                  </a:extLst>
                </a:hlinkClick>
              </a:rPr>
              <a:t>demo.nuestro-sistema.es</a:t>
            </a:r>
            <a:endParaRPr lang="en-US" sz="1150" dirty="0"/>
          </a:p>
          <a:p>
            <a:pPr algn="l" marL="233680" indent="-233680">
              <a:lnSpc>
                <a:spcPct val="133000"/>
              </a:lnSpc>
              <a:buSzPct val="100000"/>
              <a:buChar char="•"/>
            </a:pPr>
            <a:r>
              <a:rPr lang="en-US" sz="1150" dirty="0">
                <a:solidFill>
                  <a:srgbClr val="CAD6DE"/>
                </a:solidFill>
                <a:latin typeface="Cabin" pitchFamily="34" charset="0"/>
                <a:ea typeface="Cabin" pitchFamily="34" charset="-122"/>
                <a:cs typeface="Cabin" pitchFamily="34" charset="-120"/>
              </a:rPr>
              <a:t>Credenciales: </a:t>
            </a:r>
            <a:pPr algn="l" marL="233680" indent="-233680">
              <a:lnSpc>
                <a:spcPct val="133000"/>
              </a:lnSpc>
              <a:buSzPct val="100000"/>
              <a:buChar char="•"/>
            </a:pPr>
            <a:r>
              <a:rPr lang="en-US" sz="1150" b="1" dirty="0">
                <a:solidFill>
                  <a:srgbClr val="CAD6DE"/>
                </a:solidFill>
                <a:latin typeface="Cabin Bold" pitchFamily="34" charset="0"/>
                <a:ea typeface="Cabin Bold" pitchFamily="34" charset="-122"/>
                <a:cs typeface="Cabin Bold" pitchFamily="34" charset="-120"/>
              </a:rPr>
              <a:t>Usuario: demo@ejemplo.com</a:t>
            </a:r>
            <a:pPr algn="l" marL="233680" indent="-233680">
              <a:lnSpc>
                <a:spcPct val="133000"/>
              </a:lnSpc>
              <a:buSzPct val="100000"/>
              <a:buChar char="•"/>
            </a:pPr>
            <a:r>
              <a:rPr lang="en-US" sz="1150" dirty="0">
                <a:solidFill>
                  <a:srgbClr val="CAD6DE"/>
                </a:solidFill>
                <a:latin typeface="Cabin" pitchFamily="34" charset="0"/>
                <a:ea typeface="Cabin" pitchFamily="34" charset="-122"/>
                <a:cs typeface="Cabin" pitchFamily="34" charset="-120"/>
              </a:rPr>
              <a:t>, </a:t>
            </a:r>
            <a:pPr algn="l" marL="233680" indent="-233680">
              <a:lnSpc>
                <a:spcPct val="133000"/>
              </a:lnSpc>
              <a:buSzPct val="100000"/>
              <a:buChar char="•"/>
            </a:pPr>
            <a:r>
              <a:rPr lang="en-US" sz="1150" b="1" dirty="0">
                <a:solidFill>
                  <a:srgbClr val="CAD6DE"/>
                </a:solidFill>
                <a:latin typeface="Cabin Bold" pitchFamily="34" charset="0"/>
                <a:ea typeface="Cabin Bold" pitchFamily="34" charset="-122"/>
                <a:cs typeface="Cabin Bold" pitchFamily="34" charset="-120"/>
              </a:rPr>
              <a:t>Contraseña: Demo2024!</a:t>
            </a:r>
            <a:endParaRPr lang="en-US" sz="1150" dirty="0"/>
          </a:p>
          <a:p>
            <a:pPr algn="l" marL="233680" indent="-233680">
              <a:lnSpc>
                <a:spcPct val="133000"/>
              </a:lnSpc>
              <a:buSzPct val="100000"/>
              <a:buChar char="•"/>
            </a:pPr>
            <a:r>
              <a:rPr lang="en-US" sz="1150" dirty="0">
                <a:solidFill>
                  <a:srgbClr val="CAD6DE"/>
                </a:solidFill>
                <a:latin typeface="Cabin" pitchFamily="34" charset="0"/>
                <a:ea typeface="Cabin" pitchFamily="34" charset="-122"/>
                <a:cs typeface="Cabin" pitchFamily="34" charset="-120"/>
              </a:rPr>
              <a:t>Acceso de invitado preconfigurado para su comodidad.</a:t>
            </a:r>
            <a:endParaRPr lang="en-US" sz="1150" dirty="0"/>
          </a:p>
        </p:txBody>
      </p:sp>
      <p:sp>
        <p:nvSpPr>
          <p:cNvPr id="8" name="Shape 5"/>
          <p:cNvSpPr/>
          <p:nvPr/>
        </p:nvSpPr>
        <p:spPr>
          <a:xfrm>
            <a:off x="3284860" y="1964457"/>
            <a:ext cx="336575" cy="336575"/>
          </a:xfrm>
          <a:prstGeom prst="roundRect">
            <a:avLst>
              <a:gd name="adj" fmla="val 6668"/>
            </a:avLst>
          </a:prstGeom>
          <a:solidFill>
            <a:srgbClr val="304755"/>
          </a:solidFill>
          <a:ln/>
        </p:spPr>
      </p:sp>
      <p:pic>
        <p:nvPicPr>
          <p:cNvPr id="9" name="Image 1" descr="preencoded.png">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3347517" y="2027113"/>
            <a:ext cx="211187" cy="211187"/>
          </a:xfrm>
          <a:prstGeom prst="rect">
            <a:avLst/>
          </a:prstGeom>
        </p:spPr>
      </p:pic>
      <p:sp>
        <p:nvSpPr>
          <p:cNvPr id="10" name="Text 6"/>
          <p:cNvSpPr/>
          <p:nvPr/>
        </p:nvSpPr>
        <p:spPr>
          <a:xfrm>
            <a:off x="3771007" y="2015877"/>
            <a:ext cx="1804541" cy="219968"/>
          </a:xfrm>
          <a:prstGeom prst="rect">
            <a:avLst/>
          </a:prstGeom>
          <a:noFill/>
          <a:ln/>
        </p:spPr>
        <p:txBody>
          <a:bodyPr wrap="none" lIns="0" tIns="0" rIns="0" bIns="0" rtlCol="0" anchor="t"/>
          <a:lstStyle/>
          <a:p>
            <a:pPr algn="l" indent="0" marL="0">
              <a:lnSpc>
                <a:spcPct val="104000"/>
              </a:lnSpc>
              <a:buNone/>
            </a:pPr>
            <a:r>
              <a:rPr lang="en-US" sz="1350" dirty="0">
                <a:solidFill>
                  <a:srgbClr val="CAD6DE"/>
                </a:solidFill>
                <a:latin typeface="Unbounded" pitchFamily="34" charset="0"/>
                <a:ea typeface="Unbounded" pitchFamily="34" charset="-122"/>
                <a:cs typeface="Unbounded" pitchFamily="34" charset="-120"/>
              </a:rPr>
              <a:t>Flujos Principales</a:t>
            </a:r>
            <a:endParaRPr lang="en-US" sz="1350" dirty="0"/>
          </a:p>
        </p:txBody>
      </p:sp>
      <p:sp>
        <p:nvSpPr>
          <p:cNvPr id="11" name="Text 7"/>
          <p:cNvSpPr/>
          <p:nvPr/>
        </p:nvSpPr>
        <p:spPr>
          <a:xfrm>
            <a:off x="3771007" y="2325588"/>
            <a:ext cx="2088133" cy="2072060"/>
          </a:xfrm>
          <a:prstGeom prst="rect">
            <a:avLst/>
          </a:prstGeom>
          <a:noFill/>
          <a:ln/>
        </p:spPr>
        <p:txBody>
          <a:bodyPr wrap="square" lIns="0" tIns="0" rIns="0" bIns="0" rtlCol="0" anchor="t">
            <a:normAutofit/>
          </a:bodyPr>
          <a:lstStyle/>
          <a:p>
            <a:pPr algn="l" marL="233680" indent="-233680">
              <a:lnSpc>
                <a:spcPct val="133000"/>
              </a:lnSpc>
              <a:buSzPct val="100000"/>
              <a:buChar char="•"/>
            </a:pPr>
            <a:r>
              <a:rPr lang="en-US" sz="1150" dirty="0">
                <a:solidFill>
                  <a:srgbClr val="CAD6DE"/>
                </a:solidFill>
                <a:latin typeface="Cabin" pitchFamily="34" charset="0"/>
                <a:ea typeface="Cabin" pitchFamily="34" charset="-122"/>
                <a:cs typeface="Cabin" pitchFamily="34" charset="-120"/>
              </a:rPr>
              <a:t>Creación y gestión de proyectos.</a:t>
            </a:r>
            <a:endParaRPr lang="en-US" sz="1150" dirty="0"/>
          </a:p>
          <a:p>
            <a:pPr algn="l" marL="233680" indent="-233680">
              <a:lnSpc>
                <a:spcPct val="133000"/>
              </a:lnSpc>
              <a:buSzPct val="100000"/>
              <a:buChar char="•"/>
            </a:pPr>
            <a:r>
              <a:rPr lang="en-US" sz="1150" dirty="0">
                <a:solidFill>
                  <a:srgbClr val="CAD6DE"/>
                </a:solidFill>
                <a:latin typeface="Cabin" pitchFamily="34" charset="0"/>
                <a:ea typeface="Cabin" pitchFamily="34" charset="-122"/>
                <a:cs typeface="Cabin" pitchFamily="34" charset="-120"/>
              </a:rPr>
              <a:t>Panel de control de rendimiento y análisis.</a:t>
            </a:r>
            <a:endParaRPr lang="en-US" sz="1150" dirty="0"/>
          </a:p>
          <a:p>
            <a:pPr algn="l" marL="233680" indent="-233680">
              <a:lnSpc>
                <a:spcPct val="133000"/>
              </a:lnSpc>
              <a:buSzPct val="100000"/>
              <a:buChar char="•"/>
            </a:pPr>
            <a:r>
              <a:rPr lang="en-US" sz="1150" dirty="0">
                <a:solidFill>
                  <a:srgbClr val="CAD6DE"/>
                </a:solidFill>
                <a:latin typeface="Cabin" pitchFamily="34" charset="0"/>
                <a:ea typeface="Cabin" pitchFamily="34" charset="-122"/>
                <a:cs typeface="Cabin" pitchFamily="34" charset="-120"/>
              </a:rPr>
              <a:t>Colaboración en tiempo real entre equipos.</a:t>
            </a:r>
            <a:endParaRPr lang="en-US" sz="1150" dirty="0"/>
          </a:p>
          <a:p>
            <a:pPr algn="l" marL="233680" indent="-233680">
              <a:lnSpc>
                <a:spcPct val="133000"/>
              </a:lnSpc>
              <a:buSzPct val="100000"/>
              <a:buChar char="•"/>
            </a:pPr>
            <a:r>
              <a:rPr lang="en-US" sz="1150" dirty="0">
                <a:solidFill>
                  <a:srgbClr val="CAD6DE"/>
                </a:solidFill>
                <a:latin typeface="Cabin" pitchFamily="34" charset="0"/>
                <a:ea typeface="Cabin" pitchFamily="34" charset="-122"/>
                <a:cs typeface="Cabin" pitchFamily="34" charset="-120"/>
              </a:rPr>
              <a:t>Generación de informes personalizados.</a:t>
            </a:r>
            <a:endParaRPr lang="en-US" sz="1150" dirty="0"/>
          </a:p>
        </p:txBody>
      </p:sp>
      <p:sp>
        <p:nvSpPr>
          <p:cNvPr id="12" name="Shape 8"/>
          <p:cNvSpPr/>
          <p:nvPr/>
        </p:nvSpPr>
        <p:spPr>
          <a:xfrm>
            <a:off x="6046143" y="1964457"/>
            <a:ext cx="336575" cy="336575"/>
          </a:xfrm>
          <a:prstGeom prst="roundRect">
            <a:avLst>
              <a:gd name="adj" fmla="val 6668"/>
            </a:avLst>
          </a:prstGeom>
          <a:solidFill>
            <a:srgbClr val="304755"/>
          </a:solidFill>
          <a:ln/>
        </p:spPr>
      </p:sp>
      <p:pic>
        <p:nvPicPr>
          <p:cNvPr id="13" name="Image 2" descr="preencoded.png">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6108799" y="2027113"/>
            <a:ext cx="211187" cy="211187"/>
          </a:xfrm>
          <a:prstGeom prst="rect">
            <a:avLst/>
          </a:prstGeom>
        </p:spPr>
      </p:pic>
      <p:sp>
        <p:nvSpPr>
          <p:cNvPr id="14" name="Text 9"/>
          <p:cNvSpPr/>
          <p:nvPr/>
        </p:nvSpPr>
        <p:spPr>
          <a:xfrm>
            <a:off x="6532290" y="2015877"/>
            <a:ext cx="2088133" cy="439936"/>
          </a:xfrm>
          <a:prstGeom prst="rect">
            <a:avLst/>
          </a:prstGeom>
          <a:noFill/>
          <a:ln/>
        </p:spPr>
        <p:txBody>
          <a:bodyPr wrap="square" lIns="0" tIns="0" rIns="0" bIns="0" rtlCol="0" anchor="t">
            <a:normAutofit/>
          </a:bodyPr>
          <a:lstStyle/>
          <a:p>
            <a:pPr algn="l" indent="0" marL="0">
              <a:lnSpc>
                <a:spcPct val="104000"/>
              </a:lnSpc>
              <a:buNone/>
            </a:pPr>
            <a:r>
              <a:rPr lang="en-US" sz="1350" dirty="0">
                <a:solidFill>
                  <a:srgbClr val="CAD6DE"/>
                </a:solidFill>
                <a:latin typeface="Unbounded" pitchFamily="34" charset="0"/>
                <a:ea typeface="Unbounded" pitchFamily="34" charset="-122"/>
                <a:cs typeface="Unbounded" pitchFamily="34" charset="-120"/>
              </a:rPr>
              <a:t>Puntos Clave a Destacar</a:t>
            </a:r>
            <a:endParaRPr lang="en-US" sz="1350" dirty="0"/>
          </a:p>
        </p:txBody>
      </p:sp>
      <p:sp>
        <p:nvSpPr>
          <p:cNvPr id="15" name="Text 10"/>
          <p:cNvSpPr/>
          <p:nvPr/>
        </p:nvSpPr>
        <p:spPr>
          <a:xfrm>
            <a:off x="6532290" y="2545556"/>
            <a:ext cx="2088133" cy="1114499"/>
          </a:xfrm>
          <a:prstGeom prst="rect">
            <a:avLst/>
          </a:prstGeom>
          <a:noFill/>
          <a:ln/>
        </p:spPr>
        <p:txBody>
          <a:bodyPr wrap="square" lIns="0" tIns="0" rIns="0" bIns="0" rtlCol="0" anchor="t">
            <a:normAutofit/>
          </a:bodyPr>
          <a:lstStyle/>
          <a:p>
            <a:pPr algn="l" marL="233680" indent="-233680">
              <a:lnSpc>
                <a:spcPct val="133000"/>
              </a:lnSpc>
              <a:buSzPct val="100000"/>
              <a:buChar char="•"/>
            </a:pPr>
            <a:r>
              <a:rPr lang="en-US" sz="1150" b="1" dirty="0">
                <a:solidFill>
                  <a:srgbClr val="CAD6DE"/>
                </a:solidFill>
                <a:latin typeface="Cabin Bold" pitchFamily="34" charset="0"/>
                <a:ea typeface="Cabin Bold" pitchFamily="34" charset="-122"/>
                <a:cs typeface="Cabin Bold" pitchFamily="34" charset="-120"/>
              </a:rPr>
              <a:t>Interfaz intuitiva:</a:t>
            </a:r>
            <a:pPr algn="l" marL="233680" indent="-233680">
              <a:lnSpc>
                <a:spcPct val="133000"/>
              </a:lnSpc>
              <a:buSzPct val="100000"/>
              <a:buChar char="•"/>
            </a:pPr>
            <a:r>
              <a:rPr lang="en-US" sz="1150" dirty="0">
                <a:solidFill>
                  <a:srgbClr val="CAD6DE"/>
                </a:solidFill>
                <a:latin typeface="Cabin" pitchFamily="34" charset="0"/>
                <a:ea typeface="Cabin" pitchFamily="34" charset="-122"/>
                <a:cs typeface="Cabin" pitchFamily="34" charset="-120"/>
              </a:rPr>
              <a:t>           </a:t>
            </a:r>
            <a:endParaRPr lang="en-US" sz="1150" dirty="0"/>
          </a:p>
          <a:p>
            <a:pPr algn="l" marL="233680" indent="-233680">
              <a:lnSpc>
                <a:spcPct val="133000"/>
              </a:lnSpc>
              <a:buSzPct val="100000"/>
              <a:buChar char="•"/>
            </a:pPr>
            <a:r>
              <a:rPr lang="en-US" sz="1150" b="1" dirty="0">
                <a:solidFill>
                  <a:srgbClr val="CAD6DE"/>
                </a:solidFill>
                <a:latin typeface="Cabin Bold" pitchFamily="34" charset="0"/>
                <a:ea typeface="Cabin Bold" pitchFamily="34" charset="-122"/>
                <a:cs typeface="Cabin Bold" pitchFamily="34" charset="-120"/>
              </a:rPr>
              <a:t>Escalabilidad:</a:t>
            </a:r>
            <a:pPr algn="l" marL="233680" indent="-233680">
              <a:lnSpc>
                <a:spcPct val="133000"/>
              </a:lnSpc>
              <a:buSzPct val="100000"/>
              <a:buChar char="•"/>
            </a:pPr>
            <a:r>
              <a:rPr lang="en-US" sz="1150" dirty="0">
                <a:solidFill>
                  <a:srgbClr val="CAD6DE"/>
                </a:solidFill>
                <a:latin typeface="Cabin" pitchFamily="34" charset="0"/>
                <a:ea typeface="Cabin" pitchFamily="34" charset="-122"/>
                <a:cs typeface="Cabin" pitchFamily="34" charset="-120"/>
              </a:rPr>
              <a:t>           </a:t>
            </a:r>
            <a:endParaRPr lang="en-US" sz="1150" dirty="0"/>
          </a:p>
          <a:p>
            <a:pPr algn="l" marL="233680" indent="-233680">
              <a:lnSpc>
                <a:spcPct val="133000"/>
              </a:lnSpc>
              <a:buSzPct val="100000"/>
              <a:buChar char="•"/>
            </a:pPr>
            <a:r>
              <a:rPr lang="en-US" sz="1150" b="1" dirty="0">
                <a:solidFill>
                  <a:srgbClr val="CAD6DE"/>
                </a:solidFill>
                <a:latin typeface="Cabin Bold" pitchFamily="34" charset="0"/>
                <a:ea typeface="Cabin Bold" pitchFamily="34" charset="-122"/>
                <a:cs typeface="Cabin Bold" pitchFamily="34" charset="-120"/>
              </a:rPr>
              <a:t>Seguridad:</a:t>
            </a:r>
            <a:pPr algn="l" marL="233680" indent="-233680">
              <a:lnSpc>
                <a:spcPct val="133000"/>
              </a:lnSpc>
              <a:buSzPct val="100000"/>
              <a:buChar char="•"/>
            </a:pPr>
            <a:r>
              <a:rPr lang="en-US" sz="1150" dirty="0">
                <a:solidFill>
                  <a:srgbClr val="CAD6DE"/>
                </a:solidFill>
                <a:latin typeface="Cabin" pitchFamily="34" charset="0"/>
                <a:ea typeface="Cabin" pitchFamily="34" charset="-122"/>
                <a:cs typeface="Cabin" pitchFamily="34" charset="-120"/>
              </a:rPr>
              <a:t>           </a:t>
            </a:r>
            <a:endParaRPr lang="en-US" sz="1150" dirty="0"/>
          </a:p>
          <a:p>
            <a:pPr algn="l" marL="233680" indent="-233680">
              <a:lnSpc>
                <a:spcPct val="133000"/>
              </a:lnSpc>
              <a:buSzPct val="100000"/>
              <a:buChar char="•"/>
            </a:pPr>
            <a:r>
              <a:rPr lang="en-US" sz="1150" b="1" dirty="0">
                <a:solidFill>
                  <a:srgbClr val="CAD6DE"/>
                </a:solidFill>
                <a:latin typeface="Cabin Bold" pitchFamily="34" charset="0"/>
                <a:ea typeface="Cabin Bold" pitchFamily="34" charset="-122"/>
                <a:cs typeface="Cabin Bold" pitchFamily="34" charset="-120"/>
              </a:rPr>
              <a:t>Integración:</a:t>
            </a:r>
            <a:pPr algn="l" marL="233680" indent="-233680">
              <a:lnSpc>
                <a:spcPct val="133000"/>
              </a:lnSpc>
              <a:buSzPct val="100000"/>
              <a:buChar char="•"/>
            </a:pPr>
            <a:r>
              <a:rPr lang="en-US" sz="1150" dirty="0">
                <a:solidFill>
                  <a:srgbClr val="CAD6DE"/>
                </a:solidFill>
                <a:latin typeface="Cabin" pitchFamily="34" charset="0"/>
                <a:ea typeface="Cabin" pitchFamily="34" charset="-122"/>
                <a:cs typeface="Cabin" pitchFamily="34" charset="-120"/>
              </a:rPr>
              <a:t>         </a:t>
            </a:r>
            <a:endParaRPr lang="en-US" sz="11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5715000" y="0"/>
            <a:ext cx="3429000" cy="5143500"/>
          </a:xfrm>
          <a:prstGeom prst="rect">
            <a:avLst/>
          </a:prstGeom>
          <a:solidFill>
            <a:srgbClr val="304755"/>
          </a:solidFill>
          <a:ln/>
        </p:spPr>
      </p:sp>
      <p:pic>
        <p:nvPicPr>
          <p:cNvPr id="3" name="Image 0" descr="preencoded.png">    </p:cNvPr>
          <p:cNvPicPr>
            <a:picLocks noChangeAspect="1"/>
          </p:cNvPicPr>
          <p:nvPr/>
        </p:nvPicPr>
        <p:blipFill>
          <a:blip r:embed="rId1"/>
          <a:stretch>
            <a:fillRect/>
          </a:stretch>
        </p:blipFill>
        <p:spPr>
          <a:xfrm>
            <a:off x="5774606" y="89371"/>
            <a:ext cx="3309789" cy="4964683"/>
          </a:xfrm>
          <a:prstGeom prst="rect">
            <a:avLst/>
          </a:prstGeom>
        </p:spPr>
      </p:pic>
      <p:sp>
        <p:nvSpPr>
          <p:cNvPr id="4" name="Text 1"/>
          <p:cNvSpPr/>
          <p:nvPr/>
        </p:nvSpPr>
        <p:spPr>
          <a:xfrm>
            <a:off x="523577" y="448121"/>
            <a:ext cx="4667845" cy="701278"/>
          </a:xfrm>
          <a:prstGeom prst="rect">
            <a:avLst/>
          </a:prstGeom>
          <a:noFill/>
          <a:ln/>
        </p:spPr>
        <p:txBody>
          <a:bodyPr wrap="square" lIns="0" tIns="0" rIns="0" bIns="0" rtlCol="0" anchor="t">
            <a:normAutofit/>
          </a:bodyPr>
          <a:lstStyle/>
          <a:p>
            <a:pPr algn="l" indent="0" marL="0">
              <a:lnSpc>
                <a:spcPct val="104000"/>
              </a:lnSpc>
              <a:buNone/>
            </a:pPr>
            <a:r>
              <a:rPr lang="en-US" sz="2200" dirty="0">
                <a:solidFill>
                  <a:srgbClr val="FFFFFF"/>
                </a:solidFill>
                <a:latin typeface="Unbounded" pitchFamily="34" charset="0"/>
                <a:ea typeface="Unbounded" pitchFamily="34" charset="-122"/>
                <a:cs typeface="Unbounded" pitchFamily="34" charset="-120"/>
              </a:rPr>
              <a:t>Conclusiones y Próximos Pasos</a:t>
            </a:r>
            <a:endParaRPr lang="en-US" sz="2200" dirty="0"/>
          </a:p>
        </p:txBody>
      </p:sp>
      <p:sp>
        <p:nvSpPr>
          <p:cNvPr id="5" name="Text 2"/>
          <p:cNvSpPr/>
          <p:nvPr/>
        </p:nvSpPr>
        <p:spPr>
          <a:xfrm>
            <a:off x="523577" y="1291903"/>
            <a:ext cx="4667845" cy="342602"/>
          </a:xfrm>
          <a:prstGeom prst="rect">
            <a:avLst/>
          </a:prstGeom>
          <a:noFill/>
          <a:ln/>
        </p:spPr>
        <p:txBody>
          <a:bodyPr wrap="square" lIns="0" tIns="0" rIns="0" bIns="0" rtlCol="0" anchor="t">
            <a:normAutofit/>
          </a:bodyPr>
          <a:lstStyle/>
          <a:p>
            <a:pPr algn="l" indent="0" marL="0">
              <a:lnSpc>
                <a:spcPct val="120000"/>
              </a:lnSpc>
              <a:buNone/>
            </a:pPr>
            <a:r>
              <a:rPr lang="en-US" sz="900" dirty="0">
                <a:solidFill>
                  <a:srgbClr val="CAD6DE"/>
                </a:solidFill>
                <a:latin typeface="Cabin" pitchFamily="34" charset="0"/>
                <a:ea typeface="Cabin" pitchFamily="34" charset="-122"/>
                <a:cs typeface="Cabin" pitchFamily="34" charset="-120"/>
              </a:rPr>
              <a:t>Hemos revisado los logros clave de ProtonLab hasta la fecha, el impacto transformador que buscamos y nuestra visión para el futuro. Aquí están los pilares de nuestro avance.</a:t>
            </a:r>
            <a:endParaRPr lang="en-US" sz="900" dirty="0"/>
          </a:p>
        </p:txBody>
      </p:sp>
      <p:pic>
        <p:nvPicPr>
          <p:cNvPr id="6" name="Image 1" descr="preencoded.png">    </p:cNvPr>
          <p:cNvPicPr>
            <a:picLocks noChangeAspect="1"/>
          </p:cNvPicPr>
          <p:nvPr/>
        </p:nvPicPr>
        <p:blipFill>
          <a:blip r:embed="rId2"/>
          <a:stretch>
            <a:fillRect/>
          </a:stretch>
        </p:blipFill>
        <p:spPr>
          <a:xfrm>
            <a:off x="523577" y="1741363"/>
            <a:ext cx="596057" cy="984647"/>
          </a:xfrm>
          <a:prstGeom prst="rect">
            <a:avLst/>
          </a:prstGeom>
        </p:spPr>
      </p:pic>
      <p:sp>
        <p:nvSpPr>
          <p:cNvPr id="7" name="Text 3"/>
          <p:cNvSpPr/>
          <p:nvPr/>
        </p:nvSpPr>
        <p:spPr>
          <a:xfrm>
            <a:off x="1214586" y="1860575"/>
            <a:ext cx="1402556" cy="175320"/>
          </a:xfrm>
          <a:prstGeom prst="rect">
            <a:avLst/>
          </a:prstGeom>
          <a:noFill/>
          <a:ln/>
        </p:spPr>
        <p:txBody>
          <a:bodyPr wrap="none" lIns="0" tIns="0" rIns="0" bIns="0" rtlCol="0" anchor="t"/>
          <a:lstStyle/>
          <a:p>
            <a:pPr algn="l" indent="0" marL="0">
              <a:lnSpc>
                <a:spcPct val="104000"/>
              </a:lnSpc>
              <a:buNone/>
            </a:pPr>
            <a:r>
              <a:rPr lang="en-US" sz="1100" dirty="0">
                <a:solidFill>
                  <a:srgbClr val="CAD6DE"/>
                </a:solidFill>
                <a:latin typeface="Unbounded" pitchFamily="34" charset="0"/>
                <a:ea typeface="Unbounded" pitchFamily="34" charset="-122"/>
                <a:cs typeface="Unbounded" pitchFamily="34" charset="-120"/>
              </a:rPr>
              <a:t>Logros Clave</a:t>
            </a:r>
            <a:endParaRPr lang="en-US" sz="1100" dirty="0"/>
          </a:p>
        </p:txBody>
      </p:sp>
      <p:sp>
        <p:nvSpPr>
          <p:cNvPr id="8" name="Text 4"/>
          <p:cNvSpPr/>
          <p:nvPr/>
        </p:nvSpPr>
        <p:spPr>
          <a:xfrm>
            <a:off x="1214586" y="2092896"/>
            <a:ext cx="3976836" cy="513904"/>
          </a:xfrm>
          <a:prstGeom prst="rect">
            <a:avLst/>
          </a:prstGeom>
          <a:noFill/>
          <a:ln/>
        </p:spPr>
        <p:txBody>
          <a:bodyPr wrap="square" lIns="0" tIns="0" rIns="0" bIns="0" rtlCol="0" anchor="t">
            <a:normAutofit/>
          </a:bodyPr>
          <a:lstStyle/>
          <a:p>
            <a:pPr algn="l" indent="0" marL="0">
              <a:lnSpc>
                <a:spcPct val="120000"/>
              </a:lnSpc>
              <a:buNone/>
            </a:pPr>
            <a:r>
              <a:rPr lang="en-US" sz="900" dirty="0">
                <a:solidFill>
                  <a:srgbClr val="CAD6DE"/>
                </a:solidFill>
                <a:latin typeface="Cabin" pitchFamily="34" charset="0"/>
                <a:ea typeface="Cabin" pitchFamily="34" charset="-122"/>
                <a:cs typeface="Cabin" pitchFamily="34" charset="-120"/>
              </a:rPr>
              <a:t>Hemos lanzado con éxito nuestra plataforma principal, superando los objetivos de adopción inicial y obteniendo valiosos comentarios de los usuarios que validan nuestra propuesta de valor.</a:t>
            </a:r>
            <a:endParaRPr lang="en-US" sz="900" dirty="0"/>
          </a:p>
        </p:txBody>
      </p:sp>
      <p:pic>
        <p:nvPicPr>
          <p:cNvPr id="9" name="Image 2" descr="preencoded.png">    </p:cNvPr>
          <p:cNvPicPr>
            <a:picLocks noChangeAspect="1"/>
          </p:cNvPicPr>
          <p:nvPr/>
        </p:nvPicPr>
        <p:blipFill>
          <a:blip r:embed="rId3"/>
          <a:stretch>
            <a:fillRect/>
          </a:stretch>
        </p:blipFill>
        <p:spPr>
          <a:xfrm>
            <a:off x="523577" y="2726010"/>
            <a:ext cx="596057" cy="984647"/>
          </a:xfrm>
          <a:prstGeom prst="rect">
            <a:avLst/>
          </a:prstGeom>
        </p:spPr>
      </p:pic>
      <p:sp>
        <p:nvSpPr>
          <p:cNvPr id="10" name="Text 5"/>
          <p:cNvSpPr/>
          <p:nvPr/>
        </p:nvSpPr>
        <p:spPr>
          <a:xfrm>
            <a:off x="1214586" y="2845222"/>
            <a:ext cx="1402556" cy="175320"/>
          </a:xfrm>
          <a:prstGeom prst="rect">
            <a:avLst/>
          </a:prstGeom>
          <a:noFill/>
          <a:ln/>
        </p:spPr>
        <p:txBody>
          <a:bodyPr wrap="none" lIns="0" tIns="0" rIns="0" bIns="0" rtlCol="0" anchor="t"/>
          <a:lstStyle/>
          <a:p>
            <a:pPr algn="l" indent="0" marL="0">
              <a:lnSpc>
                <a:spcPct val="104000"/>
              </a:lnSpc>
              <a:buNone/>
            </a:pPr>
            <a:r>
              <a:rPr lang="en-US" sz="1100" dirty="0">
                <a:solidFill>
                  <a:srgbClr val="CAD6DE"/>
                </a:solidFill>
                <a:latin typeface="Unbounded" pitchFamily="34" charset="0"/>
                <a:ea typeface="Unbounded" pitchFamily="34" charset="-122"/>
                <a:cs typeface="Unbounded" pitchFamily="34" charset="-120"/>
              </a:rPr>
              <a:t>Impacto Futuro</a:t>
            </a:r>
            <a:endParaRPr lang="en-US" sz="1100" dirty="0"/>
          </a:p>
        </p:txBody>
      </p:sp>
      <p:sp>
        <p:nvSpPr>
          <p:cNvPr id="11" name="Text 6"/>
          <p:cNvSpPr/>
          <p:nvPr/>
        </p:nvSpPr>
        <p:spPr>
          <a:xfrm>
            <a:off x="1214586" y="3077542"/>
            <a:ext cx="3976836" cy="513904"/>
          </a:xfrm>
          <a:prstGeom prst="rect">
            <a:avLst/>
          </a:prstGeom>
          <a:noFill/>
          <a:ln/>
        </p:spPr>
        <p:txBody>
          <a:bodyPr wrap="square" lIns="0" tIns="0" rIns="0" bIns="0" rtlCol="0" anchor="t">
            <a:normAutofit/>
          </a:bodyPr>
          <a:lstStyle/>
          <a:p>
            <a:pPr algn="l" indent="0" marL="0">
              <a:lnSpc>
                <a:spcPct val="120000"/>
              </a:lnSpc>
              <a:buNone/>
            </a:pPr>
            <a:r>
              <a:rPr lang="en-US" sz="900" dirty="0">
                <a:solidFill>
                  <a:srgbClr val="CAD6DE"/>
                </a:solidFill>
                <a:latin typeface="Cabin" pitchFamily="34" charset="0"/>
                <a:ea typeface="Cabin" pitchFamily="34" charset="-122"/>
                <a:cs typeface="Cabin" pitchFamily="34" charset="-120"/>
              </a:rPr>
              <a:t>Esperamos catalizar una transformación en la industria con nuestras soluciones innovadoras, mejorando drásticamente la eficiencia, la colaboración y la toma de decisiones para nuestros clientes.</a:t>
            </a:r>
            <a:endParaRPr lang="en-US" sz="900" dirty="0"/>
          </a:p>
        </p:txBody>
      </p:sp>
      <p:pic>
        <p:nvPicPr>
          <p:cNvPr id="12" name="Image 3" descr="preencoded.png">    </p:cNvPr>
          <p:cNvPicPr>
            <a:picLocks noChangeAspect="1"/>
          </p:cNvPicPr>
          <p:nvPr/>
        </p:nvPicPr>
        <p:blipFill>
          <a:blip r:embed="rId4"/>
          <a:stretch>
            <a:fillRect/>
          </a:stretch>
        </p:blipFill>
        <p:spPr>
          <a:xfrm>
            <a:off x="523577" y="3710657"/>
            <a:ext cx="596057" cy="984647"/>
          </a:xfrm>
          <a:prstGeom prst="rect">
            <a:avLst/>
          </a:prstGeom>
        </p:spPr>
      </p:pic>
      <p:sp>
        <p:nvSpPr>
          <p:cNvPr id="13" name="Text 7"/>
          <p:cNvSpPr/>
          <p:nvPr/>
        </p:nvSpPr>
        <p:spPr>
          <a:xfrm>
            <a:off x="1214586" y="3829869"/>
            <a:ext cx="1402556" cy="175320"/>
          </a:xfrm>
          <a:prstGeom prst="rect">
            <a:avLst/>
          </a:prstGeom>
          <a:noFill/>
          <a:ln/>
        </p:spPr>
        <p:txBody>
          <a:bodyPr wrap="none" lIns="0" tIns="0" rIns="0" bIns="0" rtlCol="0" anchor="t"/>
          <a:lstStyle/>
          <a:p>
            <a:pPr algn="l" indent="0" marL="0">
              <a:lnSpc>
                <a:spcPct val="104000"/>
              </a:lnSpc>
              <a:buNone/>
            </a:pPr>
            <a:r>
              <a:rPr lang="en-US" sz="1100" dirty="0">
                <a:solidFill>
                  <a:srgbClr val="CAD6DE"/>
                </a:solidFill>
                <a:latin typeface="Unbounded" pitchFamily="34" charset="0"/>
                <a:ea typeface="Unbounded" pitchFamily="34" charset="-122"/>
                <a:cs typeface="Unbounded" pitchFamily="34" charset="-120"/>
              </a:rPr>
              <a:t>Hoja de Ruta</a:t>
            </a:r>
            <a:endParaRPr lang="en-US" sz="1100" dirty="0"/>
          </a:p>
        </p:txBody>
      </p:sp>
      <p:sp>
        <p:nvSpPr>
          <p:cNvPr id="14" name="Text 8"/>
          <p:cNvSpPr/>
          <p:nvPr/>
        </p:nvSpPr>
        <p:spPr>
          <a:xfrm>
            <a:off x="1214586" y="4062189"/>
            <a:ext cx="3976836" cy="513904"/>
          </a:xfrm>
          <a:prstGeom prst="rect">
            <a:avLst/>
          </a:prstGeom>
          <a:noFill/>
          <a:ln/>
        </p:spPr>
        <p:txBody>
          <a:bodyPr wrap="square" lIns="0" tIns="0" rIns="0" bIns="0" rtlCol="0" anchor="t">
            <a:normAutofit/>
          </a:bodyPr>
          <a:lstStyle/>
          <a:p>
            <a:pPr algn="l" indent="0" marL="0">
              <a:lnSpc>
                <a:spcPct val="120000"/>
              </a:lnSpc>
              <a:buNone/>
            </a:pPr>
            <a:r>
              <a:rPr lang="en-US" sz="900" dirty="0">
                <a:solidFill>
                  <a:srgbClr val="CAD6DE"/>
                </a:solidFill>
                <a:latin typeface="Cabin" pitchFamily="34" charset="0"/>
                <a:ea typeface="Cabin" pitchFamily="34" charset="-122"/>
                <a:cs typeface="Cabin" pitchFamily="34" charset="-120"/>
              </a:rPr>
              <a:t>Nuestra hoja de ruta incluye la integración de nuevas características avanzadas de IA, la expansión estratégica a mercados internacionales y el fortalecimiento de alianzas clave.</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A988B"/>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
  <cp:revision>1</cp:revision>
  <dcterms:created xsi:type="dcterms:W3CDTF">2026-06-26T22:35:54Z</dcterms:created>
  <dcterms:modified xsi:type="dcterms:W3CDTF">2026-06-26T22:35:54Z</dcterms:modified>
</cp:coreProperties>
</file>