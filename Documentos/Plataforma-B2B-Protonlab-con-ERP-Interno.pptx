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76" r:id="rId9"/>
    <p:sldId id="277" r:id="rId10"/>
    <p:sldId id="264" r:id="rId11"/>
    <p:sldId id="265" r:id="rId12"/>
    <p:sldId id="266" r:id="rId13"/>
    <p:sldId id="267" r:id="rId14"/>
    <p:sldId id="268" r:id="rId15"/>
    <p:sldId id="279" r:id="rId16"/>
    <p:sldId id="269" r:id="rId17"/>
    <p:sldId id="270" r:id="rId18"/>
    <p:sldId id="271" r:id="rId19"/>
    <p:sldId id="272" r:id="rId20"/>
    <p:sldId id="273" r:id="rId21"/>
    <p:sldId id="274" r:id="rId22"/>
  </p:sldIdLst>
  <p:sldSz cx="14630400" cy="8229600"/>
  <p:notesSz cx="8229600" cy="14630400"/>
  <p:embeddedFontLst>
    <p:embeddedFont>
      <p:font typeface="IBM Plex Sans Light" panose="020B0403050203000203" pitchFamily="34" charset="0"/>
      <p:regular r:id="rId24"/>
      <p:italic r:id="rId25"/>
    </p:embeddedFont>
    <p:embeddedFont>
      <p:font typeface="IBM Plex Sans Medium" panose="020B0603050203000203" pitchFamily="34" charset="0"/>
      <p:regular r:id="rId26"/>
      <p: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0556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72FA2-B702-9587-AA4D-2009DC091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FF3266-209B-3793-DEC5-CDAAC1985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CFD588-3AF5-9290-BF03-597B66D94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CE423-BC9A-0C0C-2D49-79A5058F05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872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06618-F058-09C8-F867-3E30813F7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7ACC9E-A132-AF5A-2341-25EDAFE040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4DDB43-11E4-8674-3557-2206A6BDE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62E7F-FFA6-A704-D355-871FD61820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428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14884-487D-B157-9340-AB104F689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0CEC4F-502C-A93F-7DFF-81706AAD8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B70F30-808C-10D9-423B-5E24F1FCA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3DC33-D3FF-EC62-0D51-F2E1C99C69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6446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ucid.app/lucidchart/e60ac42a-9094-44e3-89cd-42c814a10073/edit?viewport_loc=-14992%2C-3527%2C15585%2C8261%2C0_0&amp;invitationId=inv_4d435750-ed92-45b5-b1f9-e475afd2801d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lucid.app/lucidchart/8d859424-6aea-4844-b464-1d6d4d680ebc/edit?viewport_loc=-2722%2C-4783%2C8006%2C4244%2C0_0&amp;invitationId=inv_4bc21a84-9fda-4029-ab3c-7c18252c47c6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7612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Plataforma B2B Protonlab con ERP Interno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13384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Evaluación Parcial N°1 — Estado de Avance N°1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75189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Asignatura: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Desarrollo de Aplicaciones Empresariales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36995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Cliente: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Protonlab S.A.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498800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Integrantes: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5606058"/>
            <a:ext cx="75564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Gian Lucas San Martin - Analista Funcional /Lider y jefe de Proyecto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Nicolas Lagos – Testing /Frontend/Backend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Pedro Arriaza - QA / Asistente Backend/ Assist DBA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Agenda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Contexto y problema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Problema organizacional y mercado objetivo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Objetivos y alcance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Objetivo general, específicos y entregables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40133" y="3377803"/>
            <a:ext cx="34160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Tecnologías y arquitectura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Stack técnico y servicios cloud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93790" y="5520214"/>
            <a:ext cx="35387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Metodología y planificación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Scrum, fases y responsables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28548" y="5520214"/>
            <a:ext cx="32689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Viabilidad y conclusiones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Calidad, seguridad y valor de negocio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58509"/>
            <a:ext cx="57151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Contexto del Proyecto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34264"/>
            <a:ext cx="32012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Problema organizacional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215408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Protonlab S.A. enfrenta </a:t>
            </a: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falta de integración de procesos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que genera ineficiencias operativas significativas.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Sistemas manuales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56321" y="4215408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Uso de sistemas desconectados que requieren </a:t>
            </a: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redundancia de datos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generan errores de transcripción.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4504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Mercado Objetivo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07450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0604" y="363426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3821311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541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Protonlab S.A.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503193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Empresa cliente del sector B2B con necesidad de automatización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407450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43776" y="363426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3821311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4541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Usuarios internos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503193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Ventas, bodega, administración requieren trazabilidad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407450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9866948" y="363426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4114" y="3821311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4541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Clientes B2B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503193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Usuarios externos que necesitan plataforma de pedidos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1954"/>
            <a:ext cx="66177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Problema vs Oportunidad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3350895"/>
            <a:ext cx="6571417" cy="2576751"/>
          </a:xfrm>
          <a:prstGeom prst="roundRect">
            <a:avLst>
              <a:gd name="adj" fmla="val 1320"/>
            </a:avLst>
          </a:prstGeom>
          <a:solidFill>
            <a:srgbClr val="1F1F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7250" y="357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Problema Actual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4158853"/>
            <a:ext cx="6117788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Procesos manuales en ventas y despacho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Duplicidad de datos entre sistemas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Baja trazabilidad de operaciones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Errores operativos frecuentes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36168" y="3350895"/>
            <a:ext cx="6571417" cy="2576751"/>
          </a:xfrm>
          <a:prstGeom prst="roundRect">
            <a:avLst>
              <a:gd name="adj" fmla="val 1320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62982" y="357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Oportunidad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62982" y="4158853"/>
            <a:ext cx="6117788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Plataforma integrada tipo ERP + B2B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Automatización de procesos comerciales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 en tiempo real del inventario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Trazabilidad completa de operaciones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340" y="537686"/>
            <a:ext cx="4428530" cy="66479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60719" y="521494"/>
            <a:ext cx="4063841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2913340" y="7374017"/>
            <a:ext cx="3189684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2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747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Objetivo General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3951" y="213502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Optimizar la gestión comercial y operativa de Protonlab S.A. mediante el desarrollo de un </a:t>
            </a: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 integrado tipo ERP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 plataforma B2B para clientes.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1879878"/>
            <a:ext cx="30480" cy="1236107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93790" y="3484516"/>
            <a:ext cx="13042821" cy="35957"/>
          </a:xfrm>
          <a:prstGeom prst="rect">
            <a:avLst/>
          </a:prstGeom>
          <a:solidFill>
            <a:srgbClr val="D4D4D1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3790" y="386060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Objetivos Específicos</a:t>
            </a:r>
            <a:endParaRPr lang="en-US" sz="2650" dirty="0"/>
          </a:p>
        </p:txBody>
      </p:sp>
      <p:sp>
        <p:nvSpPr>
          <p:cNvPr id="7" name="Shape 5"/>
          <p:cNvSpPr/>
          <p:nvPr/>
        </p:nvSpPr>
        <p:spPr>
          <a:xfrm>
            <a:off x="793790" y="4746546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33951" y="46260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Gestión centralizada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456884" y="4746546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97046" y="4626054"/>
            <a:ext cx="33548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Automatización de ventas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97046" y="5116473"/>
            <a:ext cx="603956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Automatizar cotizaciones, pedidos y aprobaciones de crédito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6416397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33951" y="62959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Control de inventario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33951" y="6786324"/>
            <a:ext cx="603944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Controlar stock en tiempo real con trazabilidad de despachos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56884" y="6416397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97046" y="6295906"/>
            <a:ext cx="28611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Integración financiera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97046" y="6786324"/>
            <a:ext cx="603956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Integrar facturación electrónica y control de pagos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30141-BEE7-3D89-B188-552DBDE2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8">
            <a:extLst>
              <a:ext uri="{FF2B5EF4-FFF2-40B4-BE49-F238E27FC236}">
                <a16:creationId xmlns:a16="http://schemas.microsoft.com/office/drawing/2014/main" id="{A4D474B9-76C7-D434-786F-1F1607CB144A}"/>
              </a:ext>
            </a:extLst>
          </p:cNvPr>
          <p:cNvSpPr/>
          <p:nvPr/>
        </p:nvSpPr>
        <p:spPr>
          <a:xfrm>
            <a:off x="2158841" y="3765471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F71166B-3456-D8FE-B0A5-CE492988693A}"/>
              </a:ext>
            </a:extLst>
          </p:cNvPr>
          <p:cNvSpPr/>
          <p:nvPr/>
        </p:nvSpPr>
        <p:spPr>
          <a:xfrm>
            <a:off x="2056209" y="6044922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8716976F-7903-4B8E-3FF1-99CC92386763}"/>
              </a:ext>
            </a:extLst>
          </p:cNvPr>
          <p:cNvSpPr/>
          <p:nvPr/>
        </p:nvSpPr>
        <p:spPr>
          <a:xfrm>
            <a:off x="2708315" y="1269921"/>
            <a:ext cx="6140410" cy="806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9600" dirty="0" err="1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Diagramas</a:t>
            </a:r>
            <a:endParaRPr lang="en-US" sz="9600" dirty="0"/>
          </a:p>
        </p:txBody>
      </p:sp>
      <p:sp>
        <p:nvSpPr>
          <p:cNvPr id="21" name="Text 7"/>
          <p:cNvSpPr/>
          <p:nvPr/>
        </p:nvSpPr>
        <p:spPr>
          <a:xfrm>
            <a:off x="2809280" y="3459242"/>
            <a:ext cx="603944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endParaRPr lang="en-US" sz="17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4A27C8-2E7A-5545-8359-2056E5771108}"/>
              </a:ext>
            </a:extLst>
          </p:cNvPr>
          <p:cNvSpPr txBox="1"/>
          <p:nvPr/>
        </p:nvSpPr>
        <p:spPr>
          <a:xfrm>
            <a:off x="2562225" y="4185047"/>
            <a:ext cx="11563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https://lucid.app/lucidchart/e60ac42a-9094-44e3-89cd-42c814a10073/edit?viewport_loc=-14992%2C-3527%2C15585%2C8261%2C0_0&amp;invitationId=inv_4d435750-ed92-45b5-b1f9-e475afd2801d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FC69BB-3C83-6F9A-3BBC-64E749FAD03D}"/>
              </a:ext>
            </a:extLst>
          </p:cNvPr>
          <p:cNvSpPr txBox="1"/>
          <p:nvPr/>
        </p:nvSpPr>
        <p:spPr>
          <a:xfrm>
            <a:off x="2562225" y="3458171"/>
            <a:ext cx="11811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 err="1">
                <a:solidFill>
                  <a:schemeClr val="bg1"/>
                </a:solidFill>
              </a:rPr>
              <a:t>Diagrama</a:t>
            </a:r>
            <a:r>
              <a:rPr lang="en-US" sz="4800" dirty="0">
                <a:solidFill>
                  <a:schemeClr val="bg1"/>
                </a:solidFill>
              </a:rPr>
              <a:t> de </a:t>
            </a:r>
            <a:r>
              <a:rPr lang="en-US" sz="4800" dirty="0" err="1">
                <a:solidFill>
                  <a:schemeClr val="bg1"/>
                </a:solidFill>
              </a:rPr>
              <a:t>Clases</a:t>
            </a:r>
            <a:r>
              <a:rPr lang="en-US" sz="4800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C2EED2-B5E8-B02A-E001-8C175BE388F8}"/>
              </a:ext>
            </a:extLst>
          </p:cNvPr>
          <p:cNvSpPr txBox="1"/>
          <p:nvPr/>
        </p:nvSpPr>
        <p:spPr>
          <a:xfrm>
            <a:off x="2562225" y="5670889"/>
            <a:ext cx="11811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 err="1">
                <a:solidFill>
                  <a:schemeClr val="bg1"/>
                </a:solidFill>
              </a:rPr>
              <a:t>Diagrama</a:t>
            </a:r>
            <a:r>
              <a:rPr lang="en-US" sz="4800" dirty="0">
                <a:solidFill>
                  <a:schemeClr val="bg1"/>
                </a:solidFill>
              </a:rPr>
              <a:t> de </a:t>
            </a:r>
            <a:r>
              <a:rPr lang="en-US" sz="4800" dirty="0" err="1">
                <a:solidFill>
                  <a:schemeClr val="bg1"/>
                </a:solidFill>
              </a:rPr>
              <a:t>Actividad</a:t>
            </a:r>
            <a:r>
              <a:rPr lang="en-US" sz="4800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73B4E6-B765-B350-E9AA-69160365B5DA}"/>
              </a:ext>
            </a:extLst>
          </p:cNvPr>
          <p:cNvSpPr txBox="1"/>
          <p:nvPr/>
        </p:nvSpPr>
        <p:spPr>
          <a:xfrm>
            <a:off x="2562225" y="6519450"/>
            <a:ext cx="11563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https://lucid.app/lucidchart/8d859424-6aea-4844-b464-1d6d4d680ebc/edit?viewport_loc=-2722%2C-4783%2C8006%2C4244%2C0_0&amp;invitationId=inv_4bc21a84-9fda-4029-ab3c-7c18252c47c6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782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D9565-132D-5DD2-C1A8-77F434705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66596D6-9A66-CE7E-B589-50FC79249229}"/>
              </a:ext>
            </a:extLst>
          </p:cNvPr>
          <p:cNvSpPr/>
          <p:nvPr/>
        </p:nvSpPr>
        <p:spPr>
          <a:xfrm>
            <a:off x="4579209" y="4114800"/>
            <a:ext cx="57310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138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DEMO</a:t>
            </a:r>
            <a:endParaRPr lang="en-US" sz="4450" dirty="0">
              <a:solidFill>
                <a:srgbClr val="F3F3F2"/>
              </a:solidFill>
              <a:latin typeface="IBM Plex Sans Medium" pitchFamily="34" charset="0"/>
              <a:ea typeface="IBM Plex Sans Medium" pitchFamily="34" charset="-122"/>
              <a:cs typeface="IBM Plex Sans Medium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94050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1954"/>
            <a:ext cx="57310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Alcance y Entregables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7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Alcance del Sistema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58853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ERP interno con módulos de gestión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Plataforma B2B para clientes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Integración de procesos comerciales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Trazabilidad completa de operaciones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57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Entregables por Fase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158853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Fase 1: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Base del sistema y arquitectura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Fase 2: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Núcleo ERP funcional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Fase 3: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Módulos operativos y B2B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Fase 4: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Reportes y auditoría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68022" y="436007"/>
            <a:ext cx="647080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Requisitos Funcionales y Restricciones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2268022" y="930831"/>
            <a:ext cx="18286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Supuestos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022" y="1406962"/>
            <a:ext cx="2778443" cy="27784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11033" y="1385768"/>
            <a:ext cx="6958965" cy="1320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centralizada de clientes, productos y precios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Automatización de cotizaciones y generación de pedidos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 de inventario en tiempo real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Integración con facturación electrónica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 de roles y permisos por usuario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Reportes y análisis de ventas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2268022" y="4432935"/>
            <a:ext cx="18286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Restricciones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8022" y="4909066"/>
            <a:ext cx="2778443" cy="27784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11033" y="4887873"/>
            <a:ext cx="6958965" cy="154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Validación obligatoria de stock antes de confirmar pedidos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 de acceso basado en roles (RBAC) con permisos granulares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Auditoría completa de todas las transacciones y cambios de datos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Cumplimiento de normativas de protección de datos (LGPD)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Disponibilidad mínima del 99.5% del sistema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Encriptación de datos sensibles en tránsito y en reposo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Respaldo automático diario de la base de datos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09048"/>
            <a:ext cx="68978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Tecnologías y Arquitectura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071455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React + Vite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561874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 moderno con componentes reutilizables y velocidad de desarrollo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071455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86356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Node.js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086356" y="3561874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 escalable para lógica de negocio y APIs REST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3071455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28459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Firebase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528459" y="3561874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 para seguridad, Firestore para base de datos NoSQL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104209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44253" y="51042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GitHub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644253" y="5594628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 de versiones y colaboración del equipo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893" y="5104209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086356" y="51042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Vercel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6086356" y="5594628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Despliegue automático y hosting del frontend con CDN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049" y="655915"/>
            <a:ext cx="8731329" cy="688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Servicios Cloud: PaaS, SaaS e IaaS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71049" y="1879163"/>
            <a:ext cx="3545800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PaaS (Platform as a Service)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771049" y="2437328"/>
            <a:ext cx="3958947" cy="1463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Vercel: hosting y despliegue automático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Firebase: base de datos (Firestore) y autenticación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275064" y="1879163"/>
            <a:ext cx="3582710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SaaS (Software as a Service)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275064" y="2437328"/>
            <a:ext cx="3958947" cy="694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GitHub: control de versiones y colaboración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779079" y="1879163"/>
            <a:ext cx="4095274" cy="688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IaaS (Infrastructure as a Service)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9779079" y="2781538"/>
            <a:ext cx="4095274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utilizado (decisión estratégica)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1049" y="4216718"/>
            <a:ext cx="13088303" cy="694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1049" y="5232202"/>
            <a:ext cx="5669637" cy="412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Justificación de la Arquitectura Cloud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771049" y="5965984"/>
            <a:ext cx="4220051" cy="1607701"/>
          </a:xfrm>
          <a:prstGeom prst="roundRect">
            <a:avLst>
              <a:gd name="adj" fmla="val 2055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91314" y="6186249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Escalabilidad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991314" y="6658808"/>
            <a:ext cx="3779520" cy="694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infraestructura que crece con la demanda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205055" y="5965984"/>
            <a:ext cx="4220170" cy="1607701"/>
          </a:xfrm>
          <a:prstGeom prst="roundRect">
            <a:avLst>
              <a:gd name="adj" fmla="val 2055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25321" y="6186249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Disponibilidad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5425321" y="6658808"/>
            <a:ext cx="3779639" cy="694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uptime garantizado y redundancia automática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639181" y="5965984"/>
            <a:ext cx="4220051" cy="1607701"/>
          </a:xfrm>
          <a:prstGeom prst="roundRect">
            <a:avLst>
              <a:gd name="adj" fmla="val 2055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59447" y="6186249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Bajo costo operativo</a:t>
            </a:r>
            <a:endParaRPr lang="en-US" sz="2150" dirty="0"/>
          </a:p>
        </p:txBody>
      </p:sp>
      <p:sp>
        <p:nvSpPr>
          <p:cNvPr id="19" name="Text 17"/>
          <p:cNvSpPr/>
          <p:nvPr/>
        </p:nvSpPr>
        <p:spPr>
          <a:xfrm>
            <a:off x="9859447" y="6658808"/>
            <a:ext cx="3779520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 inversión en servidores físicos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445532"/>
            <a:ext cx="40199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Metodología de Trabajo: Scrum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02449" y="94154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¿Por qué Scrum?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449" y="1182410"/>
            <a:ext cx="3774400" cy="377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02449" y="5020508"/>
            <a:ext cx="3774400" cy="75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Desarrollo iterativo y adaptativo</a:t>
            </a:r>
            <a:endParaRPr lang="en-US" sz="110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Entregas incrementales cada sprint</a:t>
            </a:r>
            <a:endParaRPr lang="en-US" sz="110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Feedback continuo del cliente</a:t>
            </a:r>
            <a:endParaRPr lang="en-US" sz="110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Flexibilidad ante cambios de requisitos</a:t>
            </a:r>
            <a:endParaRPr lang="en-US" sz="1100" dirty="0"/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Mejor control de riesgos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461171" y="94154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Estructura de Sprints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1171" y="1196578"/>
            <a:ext cx="113348" cy="11334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461171" y="1359813"/>
            <a:ext cx="3774400" cy="15240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7461171" y="1446967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Sprint Planning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461171" y="1680805"/>
            <a:ext cx="3774400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Definición de objetivos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61171" y="1972747"/>
            <a:ext cx="113348" cy="11334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461171" y="2135981"/>
            <a:ext cx="3774400" cy="15240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7461171" y="222313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Daily Standup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7461171" y="2456974"/>
            <a:ext cx="3774400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Sincronización diaria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1171" y="2748915"/>
            <a:ext cx="113348" cy="11334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461171" y="2912150"/>
            <a:ext cx="3774400" cy="15240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7461171" y="299930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Sprint Review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7461171" y="3233142"/>
            <a:ext cx="3774400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Demostración de avances</a:t>
            </a:r>
            <a:endParaRPr lang="en-US" sz="10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61171" y="3525083"/>
            <a:ext cx="113348" cy="11334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461171" y="3688318"/>
            <a:ext cx="3774400" cy="15240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/>
          <p:nvPr/>
        </p:nvSpPr>
        <p:spPr>
          <a:xfrm>
            <a:off x="7461171" y="3775472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Sprint Retrospective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7461171" y="4009311"/>
            <a:ext cx="3774400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Mejora continua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33A24-61C3-D454-EF57-284732E3B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0;p1">
            <a:extLst>
              <a:ext uri="{FF2B5EF4-FFF2-40B4-BE49-F238E27FC236}">
                <a16:creationId xmlns:a16="http://schemas.microsoft.com/office/drawing/2014/main" id="{F3DDD07D-9962-4250-7BE8-02AD3C943D79}"/>
              </a:ext>
            </a:extLst>
          </p:cNvPr>
          <p:cNvSpPr txBox="1">
            <a:spLocks/>
          </p:cNvSpPr>
          <p:nvPr/>
        </p:nvSpPr>
        <p:spPr>
          <a:xfrm>
            <a:off x="2566035" y="1417320"/>
            <a:ext cx="9326880" cy="207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Hoja de ruta del producto </a:t>
            </a:r>
            <a:br>
              <a:rPr lang="es-ES" b="1" dirty="0">
                <a:solidFill>
                  <a:schemeClr val="bg1"/>
                </a:solidFill>
              </a:rPr>
            </a:br>
            <a:r>
              <a:rPr lang="es-ES" b="1" dirty="0">
                <a:solidFill>
                  <a:schemeClr val="bg1"/>
                </a:solidFill>
              </a:rPr>
              <a:t>(Agile </a:t>
            </a:r>
            <a:r>
              <a:rPr lang="es-ES" b="1" dirty="0" err="1">
                <a:solidFill>
                  <a:schemeClr val="bg1"/>
                </a:solidFill>
              </a:rPr>
              <a:t>Roadmap</a:t>
            </a:r>
            <a:r>
              <a:rPr lang="es-ES" b="1" dirty="0">
                <a:solidFill>
                  <a:schemeClr val="bg1"/>
                </a:solidFill>
              </a:rPr>
              <a:t>)</a:t>
            </a:r>
            <a:r>
              <a:rPr lang="es-ES" sz="2880" b="1" dirty="0">
                <a:solidFill>
                  <a:schemeClr val="bg1"/>
                </a:solidFill>
              </a:rPr>
              <a:t> </a:t>
            </a:r>
            <a:br>
              <a:rPr lang="es-ES" sz="2880" b="1" dirty="0">
                <a:solidFill>
                  <a:schemeClr val="bg1"/>
                </a:solidFill>
              </a:rPr>
            </a:br>
            <a:r>
              <a:rPr lang="es-ES" sz="2160" b="1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Plataforma B2B </a:t>
            </a:r>
            <a:r>
              <a:rPr lang="es-ES" sz="2160" b="1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Protonlab</a:t>
            </a:r>
            <a:r>
              <a:rPr lang="es-ES" sz="2160" b="1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con ERP Interno</a:t>
            </a:r>
          </a:p>
          <a:p>
            <a:endParaRPr lang="es-ES" sz="2880" b="1" dirty="0">
              <a:solidFill>
                <a:schemeClr val="bg1"/>
              </a:solidFill>
            </a:endParaRPr>
          </a:p>
        </p:txBody>
      </p:sp>
      <p:sp>
        <p:nvSpPr>
          <p:cNvPr id="11" name="Google Shape;101;p1">
            <a:extLst>
              <a:ext uri="{FF2B5EF4-FFF2-40B4-BE49-F238E27FC236}">
                <a16:creationId xmlns:a16="http://schemas.microsoft.com/office/drawing/2014/main" id="{26D363F4-25E6-F585-2336-164E316741BA}"/>
              </a:ext>
            </a:extLst>
          </p:cNvPr>
          <p:cNvSpPr txBox="1">
            <a:spLocks/>
          </p:cNvSpPr>
          <p:nvPr/>
        </p:nvSpPr>
        <p:spPr>
          <a:xfrm>
            <a:off x="2656695" y="3751305"/>
            <a:ext cx="9491400" cy="256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SzPct val="100000"/>
            </a:pPr>
            <a:r>
              <a:rPr lang="es-VE" sz="3360" b="1" dirty="0">
                <a:solidFill>
                  <a:schemeClr val="bg1"/>
                </a:solidFill>
              </a:rPr>
              <a:t>Período:</a:t>
            </a:r>
            <a:r>
              <a:rPr lang="es-VE" sz="3360" b="1" dirty="0"/>
              <a:t> </a:t>
            </a:r>
            <a:r>
              <a:rPr lang="es-VE" sz="3360" b="1" dirty="0">
                <a:solidFill>
                  <a:srgbClr val="00B050"/>
                </a:solidFill>
              </a:rPr>
              <a:t>20/03/2026 al 31/07/2026]</a:t>
            </a:r>
            <a:endParaRPr lang="es-VE" dirty="0"/>
          </a:p>
          <a:p>
            <a:pPr marL="0" indent="0">
              <a:spcBef>
                <a:spcPts val="521"/>
              </a:spcBef>
              <a:buSzPct val="100000"/>
            </a:pPr>
            <a:r>
              <a:rPr lang="es-VE" sz="3360" b="1" dirty="0">
                <a:solidFill>
                  <a:schemeClr val="bg1"/>
                </a:solidFill>
              </a:rPr>
              <a:t>Organización:</a:t>
            </a:r>
            <a:r>
              <a:rPr lang="es-VE" sz="3360" b="1" dirty="0"/>
              <a:t> </a:t>
            </a:r>
            <a:r>
              <a:rPr lang="es-VE" sz="3360" b="1" dirty="0" err="1">
                <a:solidFill>
                  <a:srgbClr val="00B050"/>
                </a:solidFill>
              </a:rPr>
              <a:t>Protonlab</a:t>
            </a:r>
            <a:r>
              <a:rPr lang="es-VE" sz="3360" b="1" dirty="0">
                <a:solidFill>
                  <a:srgbClr val="00B050"/>
                </a:solidFill>
              </a:rPr>
              <a:t> S.A</a:t>
            </a:r>
            <a:endParaRPr lang="es-VE" sz="3360" b="1" dirty="0"/>
          </a:p>
          <a:p>
            <a:pPr marL="0" indent="0">
              <a:spcBef>
                <a:spcPts val="521"/>
              </a:spcBef>
              <a:buSzPct val="100000"/>
            </a:pPr>
            <a:r>
              <a:rPr lang="es-VE" sz="3360" b="1" dirty="0">
                <a:solidFill>
                  <a:schemeClr val="bg1"/>
                </a:solidFill>
              </a:rPr>
              <a:t>Cliente:</a:t>
            </a:r>
            <a:r>
              <a:rPr lang="es-VE" sz="3360" b="1" dirty="0"/>
              <a:t> </a:t>
            </a:r>
            <a:r>
              <a:rPr lang="es-VE" sz="3360" b="1" dirty="0" err="1">
                <a:solidFill>
                  <a:srgbClr val="00B050"/>
                </a:solidFill>
              </a:rPr>
              <a:t>Protonlab</a:t>
            </a:r>
            <a:r>
              <a:rPr lang="es-VE" sz="3360" b="1" dirty="0">
                <a:solidFill>
                  <a:srgbClr val="00B050"/>
                </a:solidFill>
              </a:rPr>
              <a:t> S.A. (Gerencia General/Dirección de operaciones</a:t>
            </a:r>
            <a:endParaRPr lang="es-VE" dirty="0"/>
          </a:p>
          <a:p>
            <a:pPr marL="0" indent="0">
              <a:spcBef>
                <a:spcPts val="521"/>
              </a:spcBef>
              <a:buSzPct val="100000"/>
            </a:pPr>
            <a:r>
              <a:rPr lang="es-VE" sz="3360" b="1" dirty="0">
                <a:solidFill>
                  <a:schemeClr val="bg1"/>
                </a:solidFill>
              </a:rPr>
              <a:t>Dueño del producto (</a:t>
            </a:r>
            <a:r>
              <a:rPr lang="es-VE" sz="3360" b="1" dirty="0" err="1">
                <a:solidFill>
                  <a:schemeClr val="bg1"/>
                </a:solidFill>
              </a:rPr>
              <a:t>Owner</a:t>
            </a:r>
            <a:r>
              <a:rPr lang="es-VE" sz="3360" b="1" dirty="0">
                <a:solidFill>
                  <a:schemeClr val="bg1"/>
                </a:solidFill>
              </a:rPr>
              <a:t>):</a:t>
            </a:r>
            <a:r>
              <a:rPr lang="es-VE" sz="3360" b="1" dirty="0"/>
              <a:t> </a:t>
            </a:r>
            <a:r>
              <a:rPr lang="es-VE" sz="3360" b="1" dirty="0">
                <a:solidFill>
                  <a:srgbClr val="00B050"/>
                </a:solidFill>
              </a:rPr>
              <a:t>Nicolas Lagos</a:t>
            </a:r>
            <a:r>
              <a:rPr lang="es-VE" sz="3360" b="1" dirty="0">
                <a:solidFill>
                  <a:srgbClr val="FF0000"/>
                </a:solidFill>
              </a:rPr>
              <a:t> </a:t>
            </a:r>
            <a:endParaRPr lang="es-VE" dirty="0">
              <a:solidFill>
                <a:srgbClr val="FF0000"/>
              </a:solidFill>
            </a:endParaRPr>
          </a:p>
          <a:p>
            <a:pPr marL="0" indent="0">
              <a:spcBef>
                <a:spcPts val="521"/>
              </a:spcBef>
              <a:buSzPct val="100000"/>
            </a:pPr>
            <a:r>
              <a:rPr lang="es-VE" sz="3360" b="1" dirty="0">
                <a:solidFill>
                  <a:schemeClr val="bg1"/>
                </a:solidFill>
              </a:rPr>
              <a:t>Scrum Master:</a:t>
            </a:r>
            <a:r>
              <a:rPr lang="es-VE" sz="3360" b="1" dirty="0"/>
              <a:t> </a:t>
            </a:r>
            <a:r>
              <a:rPr lang="es-VE" sz="3360" b="1" dirty="0">
                <a:solidFill>
                  <a:srgbClr val="00B050"/>
                </a:solidFill>
              </a:rPr>
              <a:t>Pedro Arriaza</a:t>
            </a:r>
          </a:p>
          <a:p>
            <a:pPr marL="0" indent="0">
              <a:spcBef>
                <a:spcPts val="521"/>
              </a:spcBef>
              <a:buSzPct val="100000"/>
            </a:pPr>
            <a:endParaRPr lang="es-VE" sz="336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682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0402" y="321177"/>
            <a:ext cx="40199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RoadMap</a:t>
            </a:r>
            <a:endParaRPr lang="en-US" sz="2200" dirty="0"/>
          </a:p>
        </p:txBody>
      </p:sp>
      <p:sp>
        <p:nvSpPr>
          <p:cNvPr id="57" name="Google Shape;107;g396a3a404c8_2_8">
            <a:extLst>
              <a:ext uri="{FF2B5EF4-FFF2-40B4-BE49-F238E27FC236}">
                <a16:creationId xmlns:a16="http://schemas.microsoft.com/office/drawing/2014/main" id="{CB023854-EED4-9812-0E28-E39A3E779782}"/>
              </a:ext>
            </a:extLst>
          </p:cNvPr>
          <p:cNvSpPr txBox="1">
            <a:spLocks/>
          </p:cNvSpPr>
          <p:nvPr/>
        </p:nvSpPr>
        <p:spPr>
          <a:xfrm>
            <a:off x="9612305" y="6893157"/>
            <a:ext cx="2560320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000000-1234-1234-1234-123412341234}" type="slidenum">
              <a:rPr lang="es-VE" smtClean="0"/>
              <a:pPr/>
              <a:t>16</a:t>
            </a:fld>
            <a:endParaRPr lang="es-VE"/>
          </a:p>
        </p:txBody>
      </p:sp>
      <p:graphicFrame>
        <p:nvGraphicFramePr>
          <p:cNvPr id="58" name="Google Shape;108;g396a3a404c8_2_8">
            <a:extLst>
              <a:ext uri="{FF2B5EF4-FFF2-40B4-BE49-F238E27FC236}">
                <a16:creationId xmlns:a16="http://schemas.microsoft.com/office/drawing/2014/main" id="{708068F3-F664-2074-0966-6BA3B2FFB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0535633"/>
              </p:ext>
            </p:extLst>
          </p:nvPr>
        </p:nvGraphicFramePr>
        <p:xfrm>
          <a:off x="2050290" y="1047278"/>
          <a:ext cx="10369170" cy="61725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02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4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4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4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9729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VE" sz="2200" u="none" strike="noStrike" cap="none" baseline="0" dirty="0">
                          <a:solidFill>
                            <a:schemeClr val="bg1"/>
                          </a:solidFill>
                        </a:rPr>
                        <a:t>Plataforma B2B </a:t>
                      </a:r>
                      <a:r>
                        <a:rPr lang="es-VE" sz="2200" baseline="0" dirty="0" err="1">
                          <a:solidFill>
                            <a:schemeClr val="bg1"/>
                          </a:solidFill>
                        </a:rPr>
                        <a:t>Protonlab</a:t>
                      </a:r>
                      <a:r>
                        <a:rPr lang="es-VE" sz="2200" baseline="0" dirty="0">
                          <a:solidFill>
                            <a:schemeClr val="bg1"/>
                          </a:solidFill>
                        </a:rPr>
                        <a:t> con ERP Interno</a:t>
                      </a:r>
                      <a:endParaRPr sz="2200" u="none" strike="noStrike" cap="none" baseline="0" dirty="0">
                        <a:solidFill>
                          <a:schemeClr val="bg1"/>
                        </a:solidFill>
                      </a:endParaRPr>
                    </a:p>
                  </a:txBody>
                  <a:tcPr marL="109740" marR="109740" marT="54870" marB="5487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VE" sz="2200" u="none" strike="noStrike" cap="none" baseline="0" dirty="0">
                          <a:solidFill>
                            <a:schemeClr val="bg1"/>
                          </a:solidFill>
                        </a:rPr>
                        <a:t>1er. Trimestre</a:t>
                      </a:r>
                      <a:endParaRPr sz="2200" u="none" strike="noStrike" cap="none" baseline="0" dirty="0">
                        <a:solidFill>
                          <a:schemeClr val="bg1"/>
                        </a:solidFill>
                      </a:endParaRPr>
                    </a:p>
                  </a:txBody>
                  <a:tcPr marL="109740" marR="109740" marT="54870" marB="5487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VE" sz="2200" u="none" strike="noStrike" cap="none" baseline="0" dirty="0">
                          <a:solidFill>
                            <a:schemeClr val="bg1"/>
                          </a:solidFill>
                        </a:rPr>
                        <a:t>2do. Trimestre</a:t>
                      </a:r>
                      <a:endParaRPr sz="2200" u="none" strike="noStrike" cap="none" baseline="0" dirty="0">
                        <a:solidFill>
                          <a:schemeClr val="bg1"/>
                        </a:solidFill>
                      </a:endParaRPr>
                    </a:p>
                  </a:txBody>
                  <a:tcPr marL="109740" marR="109740" marT="54870" marB="5487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VE" sz="2200" u="none" strike="noStrike" cap="none" baseline="0" dirty="0">
                          <a:solidFill>
                            <a:schemeClr val="bg1"/>
                          </a:solidFill>
                        </a:rPr>
                        <a:t>3er. Trimestre</a:t>
                      </a:r>
                      <a:endParaRPr sz="2200" u="none" strike="noStrike" cap="none" baseline="0" dirty="0">
                        <a:solidFill>
                          <a:schemeClr val="bg1"/>
                        </a:solidFill>
                      </a:endParaRPr>
                    </a:p>
                  </a:txBody>
                  <a:tcPr marL="109740" marR="109740" marT="54870" marB="5487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VE" sz="2200" u="none" strike="noStrike" cap="none" baseline="0" dirty="0">
                          <a:solidFill>
                            <a:schemeClr val="bg1"/>
                          </a:solidFill>
                        </a:rPr>
                        <a:t>4to. Trimestre</a:t>
                      </a:r>
                      <a:endParaRPr sz="2200" u="none" strike="noStrike" cap="none" baseline="0" dirty="0">
                        <a:solidFill>
                          <a:schemeClr val="bg1"/>
                        </a:solidFill>
                      </a:endParaRPr>
                    </a:p>
                  </a:txBody>
                  <a:tcPr marL="109740" marR="109740" marT="54870" marB="5487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42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VE" sz="2200" baseline="0" dirty="0">
                          <a:solidFill>
                            <a:schemeClr val="bg1"/>
                          </a:solidFill>
                        </a:rPr>
                        <a:t>Documentación y generación base del proyecto</a:t>
                      </a:r>
                      <a:endParaRPr sz="2200" u="none" strike="noStrike" cap="none" baseline="0" dirty="0">
                        <a:solidFill>
                          <a:schemeClr val="bg1"/>
                        </a:solidFill>
                      </a:endParaRPr>
                    </a:p>
                  </a:txBody>
                  <a:tcPr marL="109740" marR="109740" marT="54870" marB="5487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200" u="none" strike="noStrike" cap="none" baseline="0">
                        <a:solidFill>
                          <a:schemeClr val="bg1"/>
                        </a:solidFill>
                      </a:endParaRPr>
                    </a:p>
                  </a:txBody>
                  <a:tcPr marL="109740" marR="109740" marT="54870" marB="5487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200" u="none" strike="noStrike" cap="none" baseline="0">
                        <a:solidFill>
                          <a:schemeClr val="bg1"/>
                        </a:solidFill>
                      </a:endParaRPr>
                    </a:p>
                  </a:txBody>
                  <a:tcPr marL="109740" marR="109740" marT="54870" marB="5487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200" u="none" strike="noStrike" cap="none" baseline="0">
                        <a:solidFill>
                          <a:schemeClr val="bg1"/>
                        </a:solidFill>
                      </a:endParaRPr>
                    </a:p>
                  </a:txBody>
                  <a:tcPr marL="109740" marR="109740" marT="54870" marB="5487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200" u="none" strike="noStrike" cap="none" baseline="0" dirty="0">
                        <a:solidFill>
                          <a:schemeClr val="bg1"/>
                        </a:solidFill>
                      </a:endParaRPr>
                    </a:p>
                  </a:txBody>
                  <a:tcPr marL="109740" marR="109740" marT="54870" marB="5487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42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VE" sz="2200" baseline="0" dirty="0">
                          <a:solidFill>
                            <a:schemeClr val="bg1"/>
                          </a:solidFill>
                        </a:rPr>
                        <a:t>Desarrollo </a:t>
                      </a:r>
                      <a:r>
                        <a:rPr lang="es-VE" sz="2200" baseline="0" dirty="0" err="1">
                          <a:solidFill>
                            <a:schemeClr val="bg1"/>
                          </a:solidFill>
                        </a:rPr>
                        <a:t>core</a:t>
                      </a:r>
                      <a:r>
                        <a:rPr lang="es-VE" sz="2200" baseline="0" dirty="0">
                          <a:solidFill>
                            <a:schemeClr val="bg1"/>
                          </a:solidFill>
                        </a:rPr>
                        <a:t> de ERP</a:t>
                      </a:r>
                      <a:endParaRPr sz="2200" u="none" strike="noStrike" cap="none" baseline="0" dirty="0">
                        <a:solidFill>
                          <a:schemeClr val="bg1"/>
                        </a:solidFill>
                      </a:endParaRPr>
                    </a:p>
                  </a:txBody>
                  <a:tcPr marL="109740" marR="109740" marT="54870" marB="5487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200" u="none" strike="noStrike" cap="none" baseline="0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40" marR="109740" marT="54870" marB="5487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200" u="none" strike="noStrike" cap="none" baseline="0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40" marR="109740" marT="54870" marB="5487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200" u="none" strike="noStrike" cap="none" baseline="0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40" marR="109740" marT="54870" marB="5487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200" u="none" strike="noStrike" cap="none" baseline="0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9740" marR="109740" marT="54870" marB="5487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42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VE" sz="2200" baseline="0" dirty="0">
                          <a:solidFill>
                            <a:schemeClr val="bg1"/>
                          </a:solidFill>
                        </a:rPr>
                        <a:t>Conexión </a:t>
                      </a:r>
                      <a:r>
                        <a:rPr lang="es-VE" sz="2200" baseline="0" dirty="0" err="1">
                          <a:solidFill>
                            <a:schemeClr val="bg1"/>
                          </a:solidFill>
                        </a:rPr>
                        <a:t>backend</a:t>
                      </a:r>
                      <a:r>
                        <a:rPr lang="es-VE" sz="2200" baseline="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s-VE" sz="2200" baseline="0" dirty="0" err="1">
                          <a:solidFill>
                            <a:schemeClr val="bg1"/>
                          </a:solidFill>
                        </a:rPr>
                        <a:t>frontend</a:t>
                      </a:r>
                      <a:r>
                        <a:rPr lang="es-VE" sz="2200" baseline="0" dirty="0">
                          <a:solidFill>
                            <a:schemeClr val="bg1"/>
                          </a:solidFill>
                        </a:rPr>
                        <a:t> y </a:t>
                      </a:r>
                      <a:r>
                        <a:rPr lang="es-VE" sz="2200" baseline="0" dirty="0" err="1">
                          <a:solidFill>
                            <a:schemeClr val="bg1"/>
                          </a:solidFill>
                        </a:rPr>
                        <a:t>database</a:t>
                      </a:r>
                      <a:endParaRPr sz="2200" u="none" strike="noStrike" cap="none" baseline="0" dirty="0">
                        <a:solidFill>
                          <a:schemeClr val="bg1"/>
                        </a:solidFill>
                      </a:endParaRPr>
                    </a:p>
                  </a:txBody>
                  <a:tcPr marL="109740" marR="109740" marT="54870" marB="5487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200" u="none" strike="noStrike" cap="none" baseline="0">
                        <a:solidFill>
                          <a:schemeClr val="bg1"/>
                        </a:solidFill>
                      </a:endParaRPr>
                    </a:p>
                  </a:txBody>
                  <a:tcPr marL="109740" marR="109740" marT="54870" marB="5487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200" u="none" strike="noStrike" cap="none" baseline="0">
                        <a:solidFill>
                          <a:schemeClr val="bg1"/>
                        </a:solidFill>
                      </a:endParaRPr>
                    </a:p>
                  </a:txBody>
                  <a:tcPr marL="109740" marR="109740" marT="54870" marB="5487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200" u="none" strike="noStrike" cap="none" baseline="0">
                        <a:solidFill>
                          <a:schemeClr val="bg1"/>
                        </a:solidFill>
                      </a:endParaRPr>
                    </a:p>
                  </a:txBody>
                  <a:tcPr marL="109740" marR="109740" marT="54870" marB="5487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200" u="none" strike="noStrike" cap="none" baseline="0">
                        <a:solidFill>
                          <a:schemeClr val="bg1"/>
                        </a:solidFill>
                      </a:endParaRPr>
                    </a:p>
                  </a:txBody>
                  <a:tcPr marL="109740" marR="109740" marT="54870" marB="5487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423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VE" sz="2200" baseline="0" dirty="0">
                          <a:solidFill>
                            <a:schemeClr val="bg1"/>
                          </a:solidFill>
                        </a:rPr>
                        <a:t>Despliegue y documentación de fin de proyectos</a:t>
                      </a:r>
                      <a:endParaRPr sz="2200" u="none" strike="noStrike" cap="none" baseline="0" dirty="0">
                        <a:solidFill>
                          <a:schemeClr val="bg1"/>
                        </a:solidFill>
                      </a:endParaRPr>
                    </a:p>
                  </a:txBody>
                  <a:tcPr marL="109740" marR="109740" marT="54870" marB="5487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200" u="none" strike="noStrike" cap="none" baseline="0">
                        <a:solidFill>
                          <a:schemeClr val="bg1"/>
                        </a:solidFill>
                      </a:endParaRPr>
                    </a:p>
                  </a:txBody>
                  <a:tcPr marL="109740" marR="109740" marT="54870" marB="5487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200" u="none" strike="noStrike" cap="none" baseline="0">
                        <a:solidFill>
                          <a:schemeClr val="bg1"/>
                        </a:solidFill>
                      </a:endParaRPr>
                    </a:p>
                  </a:txBody>
                  <a:tcPr marL="109740" marR="109740" marT="54870" marB="5487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200" u="none" strike="noStrike" cap="none" baseline="0">
                        <a:solidFill>
                          <a:schemeClr val="bg1"/>
                        </a:solidFill>
                      </a:endParaRPr>
                    </a:p>
                  </a:txBody>
                  <a:tcPr marL="109740" marR="109740" marT="54870" marB="5487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2200" u="none" strike="noStrike" cap="none" baseline="0" dirty="0">
                        <a:solidFill>
                          <a:schemeClr val="bg1"/>
                        </a:solidFill>
                      </a:endParaRPr>
                    </a:p>
                  </a:txBody>
                  <a:tcPr marL="109740" marR="109740" marT="54870" marB="5487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9" name="Google Shape;109;g396a3a404c8_2_8">
            <a:extLst>
              <a:ext uri="{FF2B5EF4-FFF2-40B4-BE49-F238E27FC236}">
                <a16:creationId xmlns:a16="http://schemas.microsoft.com/office/drawing/2014/main" id="{1CA9CFEF-F356-BCC8-A4DB-947CAA78369A}"/>
              </a:ext>
            </a:extLst>
          </p:cNvPr>
          <p:cNvSpPr/>
          <p:nvPr/>
        </p:nvSpPr>
        <p:spPr>
          <a:xfrm>
            <a:off x="5074625" y="2233617"/>
            <a:ext cx="2419560" cy="43812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es-VE" sz="1200">
                <a:solidFill>
                  <a:schemeClr val="lt1"/>
                </a:solidFill>
              </a:rPr>
              <a:t>Consolidación de Autenticación y Roles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110;g396a3a404c8_2_8">
            <a:extLst>
              <a:ext uri="{FF2B5EF4-FFF2-40B4-BE49-F238E27FC236}">
                <a16:creationId xmlns:a16="http://schemas.microsoft.com/office/drawing/2014/main" id="{50952AC4-AFC6-EA2A-E5A8-085C7A9838F1}"/>
              </a:ext>
            </a:extLst>
          </p:cNvPr>
          <p:cNvSpPr/>
          <p:nvPr/>
        </p:nvSpPr>
        <p:spPr>
          <a:xfrm>
            <a:off x="5333855" y="2802931"/>
            <a:ext cx="2811960" cy="39168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es-VE" sz="1200">
                <a:solidFill>
                  <a:schemeClr val="lt1"/>
                </a:solidFill>
              </a:rPr>
              <a:t>Arquitectura de Seguridad del Backend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111;g396a3a404c8_2_8">
            <a:extLst>
              <a:ext uri="{FF2B5EF4-FFF2-40B4-BE49-F238E27FC236}">
                <a16:creationId xmlns:a16="http://schemas.microsoft.com/office/drawing/2014/main" id="{E5250FFC-8328-1471-AC6F-AC7100B55D79}"/>
              </a:ext>
            </a:extLst>
          </p:cNvPr>
          <p:cNvSpPr/>
          <p:nvPr/>
        </p:nvSpPr>
        <p:spPr>
          <a:xfrm>
            <a:off x="5708225" y="3592814"/>
            <a:ext cx="2560320" cy="240120"/>
          </a:xfrm>
          <a:prstGeom prst="homePlate">
            <a:avLst>
              <a:gd name="adj" fmla="val 50000"/>
            </a:avLst>
          </a:prstGeom>
          <a:solidFill>
            <a:srgbClr val="FABF8E"/>
          </a:solidFill>
          <a:ln w="25400" cap="flat" cmpd="sng">
            <a:solidFill>
              <a:srgbClr val="FABF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es-VE" sz="1200">
                <a:solidFill>
                  <a:schemeClr val="dk1"/>
                </a:solidFill>
              </a:rPr>
              <a:t>Despliegue del Núcleo del ERP</a:t>
            </a:r>
            <a:endParaRPr sz="168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112;g396a3a404c8_2_8">
            <a:extLst>
              <a:ext uri="{FF2B5EF4-FFF2-40B4-BE49-F238E27FC236}">
                <a16:creationId xmlns:a16="http://schemas.microsoft.com/office/drawing/2014/main" id="{78480910-2951-28FF-8D03-8669A31B050F}"/>
              </a:ext>
            </a:extLst>
          </p:cNvPr>
          <p:cNvSpPr/>
          <p:nvPr/>
        </p:nvSpPr>
        <p:spPr>
          <a:xfrm>
            <a:off x="5333855" y="3970737"/>
            <a:ext cx="3641760" cy="316080"/>
          </a:xfrm>
          <a:prstGeom prst="homePlate">
            <a:avLst>
              <a:gd name="adj" fmla="val 50000"/>
            </a:avLst>
          </a:prstGeom>
          <a:solidFill>
            <a:srgbClr val="FABF8E"/>
          </a:solidFill>
          <a:ln w="25400" cap="flat" cmpd="sng">
            <a:solidFill>
              <a:srgbClr val="FABF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es-VE" sz="1200">
                <a:solidFill>
                  <a:schemeClr val="dk1"/>
                </a:solidFill>
              </a:rPr>
              <a:t>Módulos de Clientes y Transacciones Comerciales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113;g396a3a404c8_2_8">
            <a:extLst>
              <a:ext uri="{FF2B5EF4-FFF2-40B4-BE49-F238E27FC236}">
                <a16:creationId xmlns:a16="http://schemas.microsoft.com/office/drawing/2014/main" id="{1EDAFFA1-EE63-48B9-A519-900E55DB5595}"/>
              </a:ext>
            </a:extLst>
          </p:cNvPr>
          <p:cNvSpPr/>
          <p:nvPr/>
        </p:nvSpPr>
        <p:spPr>
          <a:xfrm>
            <a:off x="8145815" y="4754018"/>
            <a:ext cx="2811960" cy="240120"/>
          </a:xfrm>
          <a:prstGeom prst="homePlate">
            <a:avLst>
              <a:gd name="adj" fmla="val 50000"/>
            </a:avLst>
          </a:prstGeom>
          <a:solidFill>
            <a:srgbClr val="C2D59B"/>
          </a:solidFill>
          <a:ln w="25400" cap="flat" cmpd="sng">
            <a:solidFill>
              <a:srgbClr val="C2D5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es-VE" sz="1200">
                <a:solidFill>
                  <a:schemeClr val="dk1"/>
                </a:solidFill>
              </a:rPr>
              <a:t>Módulos de Gestión de Bodega y Trazabilidad</a:t>
            </a:r>
            <a:endParaRPr sz="168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114;g396a3a404c8_2_8">
            <a:extLst>
              <a:ext uri="{FF2B5EF4-FFF2-40B4-BE49-F238E27FC236}">
                <a16:creationId xmlns:a16="http://schemas.microsoft.com/office/drawing/2014/main" id="{B23422FA-5FC8-0745-281C-A008DEFB550D}"/>
              </a:ext>
            </a:extLst>
          </p:cNvPr>
          <p:cNvSpPr/>
          <p:nvPr/>
        </p:nvSpPr>
        <p:spPr>
          <a:xfrm>
            <a:off x="8013725" y="5136537"/>
            <a:ext cx="2226240" cy="216000"/>
          </a:xfrm>
          <a:prstGeom prst="homePlate">
            <a:avLst>
              <a:gd name="adj" fmla="val 50000"/>
            </a:avLst>
          </a:prstGeom>
          <a:solidFill>
            <a:srgbClr val="C2D59B"/>
          </a:solidFill>
          <a:ln w="25400" cap="flat" cmpd="sng">
            <a:solidFill>
              <a:srgbClr val="C2D5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es-VE" sz="1200">
                <a:solidFill>
                  <a:schemeClr val="dk1"/>
                </a:solidFill>
              </a:rPr>
              <a:t>Integración Financiera y de Facturación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115;g396a3a404c8_2_8">
            <a:extLst>
              <a:ext uri="{FF2B5EF4-FFF2-40B4-BE49-F238E27FC236}">
                <a16:creationId xmlns:a16="http://schemas.microsoft.com/office/drawing/2014/main" id="{B9E99602-C47D-84DC-C8E2-4A957D8B0231}"/>
              </a:ext>
            </a:extLst>
          </p:cNvPr>
          <p:cNvSpPr/>
          <p:nvPr/>
        </p:nvSpPr>
        <p:spPr>
          <a:xfrm>
            <a:off x="8013725" y="5526778"/>
            <a:ext cx="3107880" cy="240120"/>
          </a:xfrm>
          <a:prstGeom prst="homePlate">
            <a:avLst>
              <a:gd name="adj" fmla="val 50000"/>
            </a:avLst>
          </a:prstGeom>
          <a:solidFill>
            <a:srgbClr val="C2D59B"/>
          </a:solidFill>
          <a:ln w="25400" cap="flat" cmpd="sng">
            <a:solidFill>
              <a:srgbClr val="C2D5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es-VE" sz="1200">
                <a:solidFill>
                  <a:schemeClr val="dk1"/>
                </a:solidFill>
              </a:rPr>
              <a:t>Interfaces de Observabilidad por Rol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116;g396a3a404c8_2_8">
            <a:extLst>
              <a:ext uri="{FF2B5EF4-FFF2-40B4-BE49-F238E27FC236}">
                <a16:creationId xmlns:a16="http://schemas.microsoft.com/office/drawing/2014/main" id="{011A38F1-33BD-C100-6BBC-17D8170288A3}"/>
              </a:ext>
            </a:extLst>
          </p:cNvPr>
          <p:cNvSpPr/>
          <p:nvPr/>
        </p:nvSpPr>
        <p:spPr>
          <a:xfrm>
            <a:off x="10239965" y="6558148"/>
            <a:ext cx="2099160" cy="391680"/>
          </a:xfrm>
          <a:prstGeom prst="homePlate">
            <a:avLst>
              <a:gd name="adj" fmla="val 50000"/>
            </a:avLst>
          </a:prstGeom>
          <a:solidFill>
            <a:srgbClr val="92CCDC"/>
          </a:solidFill>
          <a:ln w="25400" cap="flat" cmpd="sng">
            <a:solidFill>
              <a:srgbClr val="92CC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es-VE" sz="1200">
                <a:solidFill>
                  <a:schemeClr val="dk1"/>
                </a:solidFill>
              </a:rPr>
              <a:t>Sistema de Auditoría y </a:t>
            </a:r>
            <a:br>
              <a:rPr lang="es-VE" sz="1200">
                <a:solidFill>
                  <a:schemeClr val="dk1"/>
                </a:solidFill>
              </a:rPr>
            </a:br>
            <a:r>
              <a:rPr lang="es-VE" sz="1200">
                <a:solidFill>
                  <a:schemeClr val="dk1"/>
                </a:solidFill>
              </a:rPr>
              <a:t>Automatización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117;g396a3a404c8_2_8">
            <a:extLst>
              <a:ext uri="{FF2B5EF4-FFF2-40B4-BE49-F238E27FC236}">
                <a16:creationId xmlns:a16="http://schemas.microsoft.com/office/drawing/2014/main" id="{C5294530-1A99-6D90-7A8F-85FDD5874287}"/>
              </a:ext>
            </a:extLst>
          </p:cNvPr>
          <p:cNvSpPr/>
          <p:nvPr/>
        </p:nvSpPr>
        <p:spPr>
          <a:xfrm>
            <a:off x="10320309" y="6103947"/>
            <a:ext cx="2099160" cy="316080"/>
          </a:xfrm>
          <a:prstGeom prst="homePlate">
            <a:avLst>
              <a:gd name="adj" fmla="val 50000"/>
            </a:avLst>
          </a:prstGeom>
          <a:solidFill>
            <a:srgbClr val="92CCDC"/>
          </a:solidFill>
          <a:ln w="25400" cap="flat" cmpd="sng">
            <a:solidFill>
              <a:srgbClr val="92CC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es-VE" sz="1200">
                <a:solidFill>
                  <a:schemeClr val="dk1"/>
                </a:solidFill>
              </a:rPr>
              <a:t>Módulo de Reportes Avanzados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118;g396a3a404c8_2_8">
            <a:extLst>
              <a:ext uri="{FF2B5EF4-FFF2-40B4-BE49-F238E27FC236}">
                <a16:creationId xmlns:a16="http://schemas.microsoft.com/office/drawing/2014/main" id="{91FB4F39-EBFF-ABE5-08B1-31430C99947A}"/>
              </a:ext>
            </a:extLst>
          </p:cNvPr>
          <p:cNvSpPr/>
          <p:nvPr/>
        </p:nvSpPr>
        <p:spPr>
          <a:xfrm>
            <a:off x="5708219" y="4395640"/>
            <a:ext cx="3641760" cy="216000"/>
          </a:xfrm>
          <a:prstGeom prst="homePlate">
            <a:avLst>
              <a:gd name="adj" fmla="val 50000"/>
            </a:avLst>
          </a:prstGeom>
          <a:solidFill>
            <a:srgbClr val="FABF8E"/>
          </a:solidFill>
          <a:ln w="25400" cap="flat" cmpd="sng">
            <a:solidFill>
              <a:srgbClr val="FABF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es-VE" sz="1200">
                <a:solidFill>
                  <a:schemeClr val="dk1"/>
                </a:solidFill>
              </a:rPr>
              <a:t>Integración Base de Inventario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620435"/>
            <a:ext cx="7932182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Presupuesto y Modelo de Negocio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9376" y="1728311"/>
            <a:ext cx="4084082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Costos de Desarrollo (18 semanas)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9376" y="2235637"/>
            <a:ext cx="6345079" cy="692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Desarrolladores: $700,000 CLP/mes c/u = </a:t>
            </a:r>
            <a:r>
              <a:rPr lang="en-US" sz="16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$2,100,000 CLP/mes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Líder Técnico: </a:t>
            </a:r>
            <a:r>
              <a:rPr lang="en-US" sz="16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$1,000,000 CLP/mes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9376" y="3095387"/>
            <a:ext cx="634507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Subtotal Equipo por mes: $3,100,000 CLP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9376" y="3576518"/>
            <a:ext cx="634507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Duración: 18 semanas</a:t>
            </a: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(4.5 meses)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9376" y="4057650"/>
            <a:ext cx="634507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Costo total equipo: $13,950,000 CLP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9376" y="4538782"/>
            <a:ext cx="634507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Infraestructura (Vercel + Firebase): </a:t>
            </a:r>
            <a:r>
              <a:rPr lang="en-US" sz="16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$100,000 CLP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9376" y="5019913"/>
            <a:ext cx="634507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Inversión en Desarrollo: $14,050,000 CLP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73566" y="1728311"/>
            <a:ext cx="5601533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Modelo de Ingresos y Beneficios para Protonlab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573566" y="2123837"/>
            <a:ext cx="3484126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Situación Actual de Protonlab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573566" y="2631162"/>
            <a:ext cx="6345079" cy="692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Ventas mensuales actuales: </a:t>
            </a:r>
            <a:r>
              <a:rPr lang="en-US" sz="16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$15,000,000 CLP/mes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Ventas anuales actuales: </a:t>
            </a:r>
            <a:r>
              <a:rPr lang="en-US" sz="16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$180,000,000 CLP/año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73566" y="3509486"/>
            <a:ext cx="2680216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Inversión de Protonlab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573566" y="4016812"/>
            <a:ext cx="6345079" cy="692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Costo de desarrollo: </a:t>
            </a:r>
            <a:r>
              <a:rPr lang="en-US" sz="16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$14,050,000 CLP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Mantenimiento mensual: </a:t>
            </a:r>
            <a:r>
              <a:rPr lang="en-US" sz="16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$1,500,000 CLP/mes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73566" y="4895136"/>
            <a:ext cx="3951803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Proyección con Aumento del 30%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573566" y="5402461"/>
            <a:ext cx="6345079" cy="214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Aumento estimado en ventas: </a:t>
            </a:r>
            <a:r>
              <a:rPr lang="en-US" sz="16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30%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Ventas mensuales proyectadas: </a:t>
            </a:r>
            <a:r>
              <a:rPr lang="en-US" sz="16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$19,500,000 CLP/mes</a:t>
            </a: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($15M × 1.30)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Aumento mensual: </a:t>
            </a:r>
            <a:r>
              <a:rPr lang="en-US" sz="16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$4,500,000 CLP/mes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Ventas anuales proyectadas: </a:t>
            </a:r>
            <a:r>
              <a:rPr lang="en-US" sz="16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$234,000,000 CLP/año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Ganancia adicional anual: </a:t>
            </a:r>
            <a:r>
              <a:rPr lang="en-US" sz="16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$54,000,000 CLP/año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9758"/>
            <a:ext cx="87519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Presupuesto y Modelo de Negocio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955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99521" y="21955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599521" y="2640568"/>
            <a:ext cx="43755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Proyección de ROI para Protonlab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3221712"/>
            <a:ext cx="6244709" cy="197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Recuperación de inversión inicial: </a:t>
            </a: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3.1 meses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(14,050,000 ÷ 4,500,000)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Ganancia neta anual (después de mantenimiento): </a:t>
            </a: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$36,000,000 CLP/año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ROI en primer año: </a:t>
            </a: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256%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(36,000,000 ÷ 14,050,000 × 100)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539888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Nota: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La inversión en desarrollo se recupera en menos de 3 meses, generando ganancias significativas a partir del mes 4.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58391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plataforma ofrece una recuperación de inversión rápida y, después del desarrollo inicial, comienza una etapa de mantenimiento mensual que genera ingresos recurrentes.</a:t>
            </a:r>
            <a:endParaRPr lang="en-US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12846" y="516493"/>
            <a:ext cx="3876675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Costos Totales de Desarrollo (18 semanas)</a:t>
            </a:r>
            <a:endParaRPr lang="en-US" sz="1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846" y="989767"/>
            <a:ext cx="11004590" cy="42905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49332" y="1594033"/>
            <a:ext cx="237411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3.1m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976836" y="1594033"/>
            <a:ext cx="237411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3.1m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7104340" y="1594033"/>
            <a:ext cx="237411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3.1m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9231844" y="1594033"/>
            <a:ext cx="237411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3.1m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335536" y="3271195"/>
            <a:ext cx="285036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1.55m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812846" y="7278410"/>
            <a:ext cx="11004590" cy="43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Este gráfico muestra únicamente los costos totales de desarrollo durante las 18 semanas del proyecto. Después de esta etapa comienzan los ingresos por mantenimiento mensual.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3410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3678" y="3346728"/>
            <a:ext cx="6650712" cy="585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Viabilidad, Calidad y Seguridad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853678" y="4318516"/>
            <a:ext cx="2341007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Viabilidad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53678" y="4765596"/>
            <a:ext cx="3958352" cy="2404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Solución real al problema organizacional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Tecnologías probadas y maduras (React, Node.js, Firebase)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Equipo con experiencia en stack seleccionado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Plazo realista de 8 semanas (4 sprints)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ROI positivo: reducción de costos operativos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276612" y="4318516"/>
            <a:ext cx="2341007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Calidad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276612" y="4765596"/>
            <a:ext cx="3958352" cy="1857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Integridad de datos: validaciones en cada transacción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Precisión: control de stock en tiempo real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Disponibilidad: uptime 99.9% con Firebase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Testing: pruebas unitarias e integración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Documentación técnica completa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699546" y="4318516"/>
            <a:ext cx="2341007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Seguridad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99546" y="4765596"/>
            <a:ext cx="4092178" cy="2404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Autenticación: Firebase Auth con roles de usuario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 de acceso: permisos por módulo y función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Auditoría: registro completo de todas las acciones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Encriptación: datos en tránsito y en reposo</a:t>
            </a:r>
            <a:endParaRPr lang="en-US" sz="145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Cumplimiento: LGPD y normativas locales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55050"/>
            <a:ext cx="75323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Conclusión y Agradecimiento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6308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Conclusión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211949"/>
            <a:ext cx="4312444" cy="358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Solución integral que resuelve los problemas operacionales de Protonlab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Implementación con metodología Scrum en 18 semanas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 de negocio viable con ROI positivo en 9-10 meses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Tecnologías modernas y escalables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Seguridad y cumplimiento normativo garantizado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667256" y="2630805"/>
            <a:ext cx="26904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Agradecimiento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667256" y="3211949"/>
            <a:ext cx="2690455" cy="269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Agradecimiento al cliente Protonlab S.A.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Agradecimiento al equipo de desarrollo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Agradecimiento a los docentes y evaluadores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</TotalTime>
  <Words>1369</Words>
  <Application>Microsoft Office PowerPoint</Application>
  <PresentationFormat>Personalizado</PresentationFormat>
  <Paragraphs>246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8" baseType="lpstr">
      <vt:lpstr>Arial</vt:lpstr>
      <vt:lpstr>Roboto</vt:lpstr>
      <vt:lpstr>-apple-system, BlinkMacSystemFont, Segoe UI, Roboto, Helvetica Neue, Arial, sans-serif Medium</vt:lpstr>
      <vt:lpstr>IBM Plex Sans Medium</vt:lpstr>
      <vt:lpstr>IBM Plex Sans Light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NicoGabo</dc:creator>
  <cp:lastModifiedBy>George Rodas</cp:lastModifiedBy>
  <cp:revision>4</cp:revision>
  <dcterms:created xsi:type="dcterms:W3CDTF">2026-04-10T01:56:05Z</dcterms:created>
  <dcterms:modified xsi:type="dcterms:W3CDTF">2026-04-10T17:24:28Z</dcterms:modified>
</cp:coreProperties>
</file>